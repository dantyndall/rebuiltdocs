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7772400" cy="100584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000000"/>
    <a:srgbClr val="97E76F"/>
    <a:srgbClr val="FFFF99"/>
    <a:srgbClr val="9DC3E6"/>
    <a:srgbClr val="FF7C80"/>
    <a:srgbClr val="D7AEC2"/>
    <a:srgbClr val="F5B183"/>
    <a:srgbClr val="FFDB92"/>
    <a:srgbClr val="BAB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EA4A79-4744-402B-BB1E-DE6DA07840E2}" v="25" dt="2026-02-15T02:46:12.8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113" autoAdjust="0"/>
    <p:restoredTop sz="94660"/>
  </p:normalViewPr>
  <p:slideViewPr>
    <p:cSldViewPr snapToGrid="0">
      <p:cViewPr>
        <p:scale>
          <a:sx n="160" d="100"/>
          <a:sy n="160" d="100"/>
        </p:scale>
        <p:origin x="57" y="-6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Tyndall" userId="36a36dfb8b9635bb" providerId="LiveId" clId="{89D54495-50C3-4D70-BC00-2EBDF1CACF95}"/>
    <pc:docChg chg="undo custSel modSld modNotesMaster">
      <pc:chgData name="Dan Tyndall" userId="36a36dfb8b9635bb" providerId="LiveId" clId="{89D54495-50C3-4D70-BC00-2EBDF1CACF95}" dt="2026-02-17T20:20:10.415" v="504" actId="166"/>
      <pc:docMkLst>
        <pc:docMk/>
      </pc:docMkLst>
      <pc:sldChg chg="modSp mod">
        <pc:chgData name="Dan Tyndall" userId="36a36dfb8b9635bb" providerId="LiveId" clId="{89D54495-50C3-4D70-BC00-2EBDF1CACF95}" dt="2026-02-17T20:20:10.415" v="504" actId="166"/>
        <pc:sldMkLst>
          <pc:docMk/>
          <pc:sldMk cId="852296657" sldId="256"/>
        </pc:sldMkLst>
        <pc:spChg chg="mod">
          <ac:chgData name="Dan Tyndall" userId="36a36dfb8b9635bb" providerId="LiveId" clId="{89D54495-50C3-4D70-BC00-2EBDF1CACF95}" dt="2026-02-15T02:18:32.122" v="218" actId="1036"/>
          <ac:spMkLst>
            <pc:docMk/>
            <pc:sldMk cId="852296657" sldId="256"/>
            <ac:spMk id="2" creationId="{C393B009-B5A7-DD54-44E2-6FB68D227C8F}"/>
          </ac:spMkLst>
        </pc:spChg>
        <pc:spChg chg="mod ord">
          <ac:chgData name="Dan Tyndall" userId="36a36dfb8b9635bb" providerId="LiveId" clId="{89D54495-50C3-4D70-BC00-2EBDF1CACF95}" dt="2026-02-17T20:20:10.415" v="504" actId="166"/>
          <ac:spMkLst>
            <pc:docMk/>
            <pc:sldMk cId="852296657" sldId="256"/>
            <ac:spMk id="3" creationId="{F7B2A21F-247D-2BE5-93CA-79BE664CEC78}"/>
          </ac:spMkLst>
        </pc:spChg>
        <pc:spChg chg="mod">
          <ac:chgData name="Dan Tyndall" userId="36a36dfb8b9635bb" providerId="LiveId" clId="{89D54495-50C3-4D70-BC00-2EBDF1CACF95}" dt="2026-02-15T02:29:12.282" v="449" actId="20577"/>
          <ac:spMkLst>
            <pc:docMk/>
            <pc:sldMk cId="852296657" sldId="256"/>
            <ac:spMk id="11" creationId="{17FE5694-A65D-A047-AA80-E10CFE5012A0}"/>
          </ac:spMkLst>
        </pc:spChg>
        <pc:spChg chg="mod">
          <ac:chgData name="Dan Tyndall" userId="36a36dfb8b9635bb" providerId="LiveId" clId="{89D54495-50C3-4D70-BC00-2EBDF1CACF95}" dt="2026-02-15T02:29:10.429" v="448" actId="14100"/>
          <ac:spMkLst>
            <pc:docMk/>
            <pc:sldMk cId="852296657" sldId="256"/>
            <ac:spMk id="16" creationId="{B7D620A0-96A1-FCD4-622B-C7D3B293EEC9}"/>
          </ac:spMkLst>
        </pc:spChg>
        <pc:spChg chg="mod">
          <ac:chgData name="Dan Tyndall" userId="36a36dfb8b9635bb" providerId="LiveId" clId="{89D54495-50C3-4D70-BC00-2EBDF1CACF95}" dt="2026-02-15T02:29:09.664" v="447" actId="14100"/>
          <ac:spMkLst>
            <pc:docMk/>
            <pc:sldMk cId="852296657" sldId="256"/>
            <ac:spMk id="17" creationId="{DFE0E575-27E0-87DA-55D5-38B1219BDCA9}"/>
          </ac:spMkLst>
        </pc:spChg>
        <pc:spChg chg="mod">
          <ac:chgData name="Dan Tyndall" userId="36a36dfb8b9635bb" providerId="LiveId" clId="{89D54495-50C3-4D70-BC00-2EBDF1CACF95}" dt="2026-02-15T02:31:32.811" v="467" actId="20577"/>
          <ac:spMkLst>
            <pc:docMk/>
            <pc:sldMk cId="852296657" sldId="256"/>
            <ac:spMk id="24" creationId="{D329976B-9A2F-08E1-7FF4-B4287605D0CD}"/>
          </ac:spMkLst>
        </pc:spChg>
        <pc:grpChg chg="mod">
          <ac:chgData name="Dan Tyndall" userId="36a36dfb8b9635bb" providerId="LiveId" clId="{89D54495-50C3-4D70-BC00-2EBDF1CACF95}" dt="2026-02-15T02:26:03.055" v="391" actId="1036"/>
          <ac:grpSpMkLst>
            <pc:docMk/>
            <pc:sldMk cId="852296657" sldId="256"/>
            <ac:grpSpMk id="12" creationId="{F527BBCD-A046-3C69-0CB1-82CF7538204E}"/>
          </ac:grpSpMkLst>
        </pc:grpChg>
        <pc:graphicFrameChg chg="mod modGraphic">
          <ac:chgData name="Dan Tyndall" userId="36a36dfb8b9635bb" providerId="LiveId" clId="{89D54495-50C3-4D70-BC00-2EBDF1CACF95}" dt="2026-02-15T04:22:14.749" v="503" actId="20577"/>
          <ac:graphicFrameMkLst>
            <pc:docMk/>
            <pc:sldMk cId="852296657" sldId="256"/>
            <ac:graphicFrameMk id="4" creationId="{A35698A0-0B3C-C0A7-5C0F-5792D61CA9D2}"/>
          </ac:graphicFrameMkLst>
        </pc:graphicFrameChg>
        <pc:graphicFrameChg chg="mod">
          <ac:chgData name="Dan Tyndall" userId="36a36dfb8b9635bb" providerId="LiveId" clId="{89D54495-50C3-4D70-BC00-2EBDF1CACF95}" dt="2026-02-15T02:29:08.922" v="445" actId="1036"/>
          <ac:graphicFrameMkLst>
            <pc:docMk/>
            <pc:sldMk cId="852296657" sldId="256"/>
            <ac:graphicFrameMk id="13" creationId="{03EC5167-858D-4D48-7757-3641E7F9AF53}"/>
          </ac:graphicFrameMkLst>
        </pc:graphicFrameChg>
        <pc:graphicFrameChg chg="mod modGraphic">
          <ac:chgData name="Dan Tyndall" userId="36a36dfb8b9635bb" providerId="LiveId" clId="{89D54495-50C3-4D70-BC00-2EBDF1CACF95}" dt="2026-02-15T02:29:09.389" v="446" actId="1076"/>
          <ac:graphicFrameMkLst>
            <pc:docMk/>
            <pc:sldMk cId="852296657" sldId="256"/>
            <ac:graphicFrameMk id="19" creationId="{3C12DEFE-6E1D-CFDE-55A5-1EC9436D0091}"/>
          </ac:graphicFrameMkLst>
        </pc:graphicFrameChg>
        <pc:picChg chg="mod">
          <ac:chgData name="Dan Tyndall" userId="36a36dfb8b9635bb" providerId="LiveId" clId="{89D54495-50C3-4D70-BC00-2EBDF1CACF95}" dt="2026-02-15T02:18:32.122" v="218" actId="1036"/>
          <ac:picMkLst>
            <pc:docMk/>
            <pc:sldMk cId="852296657" sldId="256"/>
            <ac:picMk id="9" creationId="{87058378-B8BA-D138-8C91-ACFE8F7F9B0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066" tIns="46533" rIns="93066" bIns="4653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1"/>
            <a:ext cx="3037840" cy="466434"/>
          </a:xfrm>
          <a:prstGeom prst="rect">
            <a:avLst/>
          </a:prstGeom>
        </p:spPr>
        <p:txBody>
          <a:bodyPr vert="horz" lIns="93066" tIns="46533" rIns="93066" bIns="46533" rtlCol="0"/>
          <a:lstStyle>
            <a:lvl1pPr algn="r">
              <a:defRPr sz="1300"/>
            </a:lvl1pPr>
          </a:lstStyle>
          <a:p>
            <a:fld id="{A4389002-FAFD-4675-8BE8-A0C80DF0744B}" type="datetimeFigureOut">
              <a:rPr lang="en-US" smtClean="0"/>
              <a:t>14 Feb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3938" y="1162050"/>
            <a:ext cx="242252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066" tIns="46533" rIns="93066" bIns="4653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3"/>
            <a:ext cx="5608320" cy="3660458"/>
          </a:xfrm>
          <a:prstGeom prst="rect">
            <a:avLst/>
          </a:prstGeom>
        </p:spPr>
        <p:txBody>
          <a:bodyPr vert="horz" lIns="93066" tIns="46533" rIns="93066" bIns="4653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74"/>
            <a:ext cx="3037840" cy="466433"/>
          </a:xfrm>
          <a:prstGeom prst="rect">
            <a:avLst/>
          </a:prstGeom>
        </p:spPr>
        <p:txBody>
          <a:bodyPr vert="horz" lIns="93066" tIns="46533" rIns="93066" bIns="4653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74"/>
            <a:ext cx="3037840" cy="466433"/>
          </a:xfrm>
          <a:prstGeom prst="rect">
            <a:avLst/>
          </a:prstGeom>
        </p:spPr>
        <p:txBody>
          <a:bodyPr vert="horz" lIns="93066" tIns="46533" rIns="93066" bIns="46533" rtlCol="0" anchor="b"/>
          <a:lstStyle>
            <a:lvl1pPr algn="r">
              <a:defRPr sz="1300"/>
            </a:lvl1pPr>
          </a:lstStyle>
          <a:p>
            <a:fld id="{5C235514-82AE-4928-851B-FE1D5E1E0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83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35514-82AE-4928-851B-FE1D5E1E0F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48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7CB61-055E-4C8B-9681-CA3A44B02D62}" type="datetimeFigureOut">
              <a:rPr lang="en-US" smtClean="0"/>
              <a:t>14 Feb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D782-93DA-4BAA-A032-103F4782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2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7CB61-055E-4C8B-9681-CA3A44B02D62}" type="datetimeFigureOut">
              <a:rPr lang="en-US" smtClean="0"/>
              <a:t>14 Feb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D782-93DA-4BAA-A032-103F4782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55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7CB61-055E-4C8B-9681-CA3A44B02D62}" type="datetimeFigureOut">
              <a:rPr lang="en-US" smtClean="0"/>
              <a:t>14 Feb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D782-93DA-4BAA-A032-103F4782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19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7CB61-055E-4C8B-9681-CA3A44B02D62}" type="datetimeFigureOut">
              <a:rPr lang="en-US" smtClean="0"/>
              <a:t>14 Feb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D782-93DA-4BAA-A032-103F4782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4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7CB61-055E-4C8B-9681-CA3A44B02D62}" type="datetimeFigureOut">
              <a:rPr lang="en-US" smtClean="0"/>
              <a:t>14 Feb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D782-93DA-4BAA-A032-103F4782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03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7CB61-055E-4C8B-9681-CA3A44B02D62}" type="datetimeFigureOut">
              <a:rPr lang="en-US" smtClean="0"/>
              <a:t>14 Feb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D782-93DA-4BAA-A032-103F4782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2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7CB61-055E-4C8B-9681-CA3A44B02D62}" type="datetimeFigureOut">
              <a:rPr lang="en-US" smtClean="0"/>
              <a:t>14 Feb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D782-93DA-4BAA-A032-103F4782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75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7CB61-055E-4C8B-9681-CA3A44B02D62}" type="datetimeFigureOut">
              <a:rPr lang="en-US" smtClean="0"/>
              <a:t>14 Feb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D782-93DA-4BAA-A032-103F4782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6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7CB61-055E-4C8B-9681-CA3A44B02D62}" type="datetimeFigureOut">
              <a:rPr lang="en-US" smtClean="0"/>
              <a:t>14 Feb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D782-93DA-4BAA-A032-103F4782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27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7CB61-055E-4C8B-9681-CA3A44B02D62}" type="datetimeFigureOut">
              <a:rPr lang="en-US" smtClean="0"/>
              <a:t>14 Feb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D782-93DA-4BAA-A032-103F4782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4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7CB61-055E-4C8B-9681-CA3A44B02D62}" type="datetimeFigureOut">
              <a:rPr lang="en-US" smtClean="0"/>
              <a:t>14 Feb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D782-93DA-4BAA-A032-103F4782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0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7CB61-055E-4C8B-9681-CA3A44B02D62}" type="datetimeFigureOut">
              <a:rPr lang="en-US" smtClean="0"/>
              <a:t>14 Feb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B4D782-93DA-4BAA-A032-103F4782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6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3B009-B5A7-DD54-44E2-6FB68D227C8F}"/>
              </a:ext>
            </a:extLst>
          </p:cNvPr>
          <p:cNvSpPr txBox="1">
            <a:spLocks/>
          </p:cNvSpPr>
          <p:nvPr/>
        </p:nvSpPr>
        <p:spPr>
          <a:xfrm>
            <a:off x="151130" y="9604181"/>
            <a:ext cx="1280378" cy="193899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570" b="1" dirty="0">
                <a:latin typeface="Arial" panose="020B0604020202020204" pitchFamily="34" charset="0"/>
                <a:cs typeface="Arial" panose="020B0604020202020204" pitchFamily="34" charset="0"/>
              </a:rPr>
              <a:t>Contact </a:t>
            </a:r>
            <a:r>
              <a:rPr lang="en-US" sz="570" b="1" dirty="0" err="1">
                <a:latin typeface="Arial" panose="020B0604020202020204" pitchFamily="34" charset="0"/>
                <a:cs typeface="Arial" panose="020B0604020202020204" pitchFamily="34" charset="0"/>
              </a:rPr>
              <a:t>dan.tyndall</a:t>
            </a:r>
            <a:r>
              <a:rPr lang="en-US" sz="570" b="1" dirty="0">
                <a:latin typeface="Arial" panose="020B0604020202020204" pitchFamily="34" charset="0"/>
                <a:cs typeface="Arial" panose="020B0604020202020204" pitchFamily="34" charset="0"/>
              </a:rPr>
              <a:t> @ outlook.com for corrections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5698A0-0B3C-C0A7-5C0F-5792D61CA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00432"/>
              </p:ext>
            </p:extLst>
          </p:nvPr>
        </p:nvGraphicFramePr>
        <p:xfrm>
          <a:off x="151130" y="246070"/>
          <a:ext cx="5702046" cy="8613267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{616DA210-FB5B-4158-B5E0-FEB733F419BA}</a:tableStyleId>
              </a:tblPr>
              <a:tblGrid>
                <a:gridCol w="133350">
                  <a:extLst>
                    <a:ext uri="{9D8B030D-6E8A-4147-A177-3AD203B41FA5}">
                      <a16:colId xmlns:a16="http://schemas.microsoft.com/office/drawing/2014/main" val="3312760365"/>
                    </a:ext>
                  </a:extLst>
                </a:gridCol>
                <a:gridCol w="137160">
                  <a:extLst>
                    <a:ext uri="{9D8B030D-6E8A-4147-A177-3AD203B41FA5}">
                      <a16:colId xmlns:a16="http://schemas.microsoft.com/office/drawing/2014/main" val="974077048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630308433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52168401"/>
                    </a:ext>
                  </a:extLst>
                </a:gridCol>
                <a:gridCol w="448056">
                  <a:extLst>
                    <a:ext uri="{9D8B030D-6E8A-4147-A177-3AD203B41FA5}">
                      <a16:colId xmlns:a16="http://schemas.microsoft.com/office/drawing/2014/main" val="3298472755"/>
                    </a:ext>
                  </a:extLst>
                </a:gridCol>
                <a:gridCol w="448056">
                  <a:extLst>
                    <a:ext uri="{9D8B030D-6E8A-4147-A177-3AD203B41FA5}">
                      <a16:colId xmlns:a16="http://schemas.microsoft.com/office/drawing/2014/main" val="2335832143"/>
                    </a:ext>
                  </a:extLst>
                </a:gridCol>
                <a:gridCol w="448056">
                  <a:extLst>
                    <a:ext uri="{9D8B030D-6E8A-4147-A177-3AD203B41FA5}">
                      <a16:colId xmlns:a16="http://schemas.microsoft.com/office/drawing/2014/main" val="4178597348"/>
                    </a:ext>
                  </a:extLst>
                </a:gridCol>
                <a:gridCol w="448056">
                  <a:extLst>
                    <a:ext uri="{9D8B030D-6E8A-4147-A177-3AD203B41FA5}">
                      <a16:colId xmlns:a16="http://schemas.microsoft.com/office/drawing/2014/main" val="1640511027"/>
                    </a:ext>
                  </a:extLst>
                </a:gridCol>
                <a:gridCol w="448056">
                  <a:extLst>
                    <a:ext uri="{9D8B030D-6E8A-4147-A177-3AD203B41FA5}">
                      <a16:colId xmlns:a16="http://schemas.microsoft.com/office/drawing/2014/main" val="1295697522"/>
                    </a:ext>
                  </a:extLst>
                </a:gridCol>
                <a:gridCol w="448056">
                  <a:extLst>
                    <a:ext uri="{9D8B030D-6E8A-4147-A177-3AD203B41FA5}">
                      <a16:colId xmlns:a16="http://schemas.microsoft.com/office/drawing/2014/main" val="3141920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50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18288" marR="18288" marT="9144" marB="9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50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70" marR="10270" marT="9144" marB="9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Minor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Disable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Yellow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126866"/>
                  </a:ext>
                </a:extLst>
              </a:tr>
              <a:tr h="0">
                <a:tc rowSpan="2" gridSpan="2"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Ref/</a:t>
                      </a:r>
                      <a:br>
                        <a:rPr lang="en-US" sz="65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65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FTA</a:t>
                      </a:r>
                    </a:p>
                  </a:txBody>
                  <a:tcPr marL="18288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CA2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Q101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STUDENT, 1 additional team member, and 1 HEAD REFEREE</a:t>
                      </a: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WBA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75831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CA28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Q102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Conversations must be civil (</a:t>
                      </a:r>
                      <a:r>
                        <a:rPr lang="en-US" sz="660" kern="100" spc="0" baseline="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Egr</a:t>
                      </a: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 – G211A violation)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CDRVLA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28600" algn="ctr"/>
                          <a:tab pos="448056" algn="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	</a:t>
                      </a:r>
                      <a:r>
                        <a:rPr lang="en-US" sz="660" b="1" kern="100" spc="0" baseline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Egr</a:t>
                      </a: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	o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FFFF99"/>
                        </a:gs>
                        <a:gs pos="100000">
                          <a:srgbClr val="FFDB9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0" algn="l"/>
                          <a:tab pos="228600" algn="ct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r	</a:t>
                      </a:r>
                      <a:r>
                        <a:rPr lang="en-US" sz="660" b="1" kern="100" spc="0" baseline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Egr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DB92"/>
                        </a:gs>
                        <a:gs pos="20000">
                          <a:srgbClr val="FF7C80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75284320"/>
                  </a:ext>
                </a:extLst>
              </a:tr>
              <a:tr h="0">
                <a:tc rowSpan="4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5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Personal Safety</a:t>
                      </a:r>
                    </a:p>
                  </a:txBody>
                  <a:tcPr marL="18288" marR="18288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B2CE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G101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HUMANS may not reach into the field during a MATCH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809079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G102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Never step over the guardrail; enter only when FIELD is green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506832"/>
                  </a:ext>
                </a:extLst>
              </a:tr>
              <a:tr h="50453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G103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HUMANS, be careful what you interact with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77724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46750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G104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Don’t enable your ROBOT while you are on the FIELD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77724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09974"/>
                  </a:ext>
                </a:extLst>
              </a:tr>
              <a:tr h="0">
                <a:tc rowSpan="1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5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Conduct</a:t>
                      </a:r>
                    </a:p>
                  </a:txBody>
                  <a:tcPr marL="18288" marR="18288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rowSpan="12"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G201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Be a good person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920168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G202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Don’t bang on the glass 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591492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G203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Don’t ask opponents to throw a MATCH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058430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G204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Don’t be coerced into throwing a MATCH by opponents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797710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G205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Don’t throw your own MATCH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277433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G206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Don’t collude to purposely violate rules to earn RPs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AIBRP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327165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G207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Don’t abuse ARENA access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56584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G208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Show up to your QUALIFICATION MATCHES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DQ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397795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G209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ROBOTS cannot intentionally detach or leave parts in the FIELD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434941"/>
                  </a:ext>
                </a:extLst>
              </a:tr>
              <a:tr h="63623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G210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No forcing opponents to violate rules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NP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65621"/>
                  </a:ext>
                </a:extLst>
              </a:tr>
              <a:tr h="48988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G211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b="0" kern="100" spc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Egregious or exceptional violations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28600" algn="ctr"/>
                          <a:tab pos="448056" algn="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		o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FFFF99"/>
                        </a:gs>
                        <a:gs pos="100000">
                          <a:srgbClr val="FFDB9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0" algn="l"/>
                          <a:tab pos="228600" algn="ct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r	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DB92"/>
                        </a:gs>
                        <a:gs pos="20000">
                          <a:srgbClr val="FF7C80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6438324"/>
                  </a:ext>
                </a:extLst>
              </a:tr>
              <a:tr h="48988">
                <a:tc gridSpan="2"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vert="vert27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G212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No discouraging another team from playing in QUAL MATCHES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28600" algn="ctr"/>
                          <a:tab pos="448056" algn="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	RDP	o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FFFF99"/>
                        </a:gs>
                        <a:gs pos="100000">
                          <a:srgbClr val="FFDB9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0" algn="l"/>
                          <a:tab pos="228600" algn="ct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r	RDNP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DB92"/>
                        </a:gs>
                        <a:gs pos="20000">
                          <a:srgbClr val="FF7C80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11587577"/>
                  </a:ext>
                </a:extLst>
              </a:tr>
              <a:tr h="0">
                <a:tc rowSpan="3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5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Pre-MATCH</a:t>
                      </a:r>
                    </a:p>
                  </a:txBody>
                  <a:tcPr marL="18288" marR="18288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CEBF8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G301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b="0" kern="100" spc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Be prompt (if PLAYOFFS, VW applies to ALLIANCE)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SSP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2min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106215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G302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You can’t bring/use anything you want during a MATCH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WSUSC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DM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790879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G303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ROBOTS must be in STARTING CONFIGURATION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WSUSC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NQ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URPMWRI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095137"/>
                  </a:ext>
                </a:extLst>
              </a:tr>
              <a:tr h="0">
                <a:tc rowSpan="2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5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In-MATCH</a:t>
                      </a:r>
                    </a:p>
                  </a:txBody>
                  <a:tcPr marL="18288" marR="18288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89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5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AUTO</a:t>
                      </a:r>
                    </a:p>
                  </a:txBody>
                  <a:tcPr marL="18288" marR="18288" marT="0" marB="0" vert="vert27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G401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HUMANS behind the STARTING LINE during AUTO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132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G402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Don’t touch controls except E-STOP/A-STOP during AUTO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6756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G403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b="0" kern="100" spc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Don’t contact opponent during AUTO if your BUMPERS are completely across CENTER LINE (IAI – G211H violation)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28600" algn="ctr"/>
                          <a:tab pos="448056" algn="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	IAI	o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FFFF99"/>
                        </a:gs>
                        <a:gs pos="100000">
                          <a:srgbClr val="FFDB9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0" algn="l"/>
                          <a:tab pos="228600" algn="ct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r	IAI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DB92"/>
                        </a:gs>
                        <a:gs pos="20000">
                          <a:srgbClr val="FF7C80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64535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5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SCORING ELEMENTS</a:t>
                      </a:r>
                    </a:p>
                  </a:txBody>
                  <a:tcPr marL="18288" marR="18288" marT="0" marB="0" vert="vert27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G404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b="0" kern="100" spc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ROBOTS can’t deliberately use SCORING ELEMENTS to ease or amplify challenge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28600" algn="ctr"/>
                          <a:tab pos="457200" algn="r"/>
                        </a:tabLst>
                      </a:pPr>
                      <a:endParaRPr lang="en-US" sz="660" b="1" kern="100" spc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228600" algn="ctr"/>
                        </a:tabLst>
                        <a:defRPr/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9181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G405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ROBOTS can’t intentionally eject SCORING ELEMENTS out of the FIELD (LQIE – G211I violation)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28600" algn="ctr"/>
                          <a:tab pos="448056" algn="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	LQIE	o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FFFF99"/>
                        </a:gs>
                        <a:gs pos="100000">
                          <a:srgbClr val="FFDB9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0" algn="l"/>
                          <a:tab pos="228600" algn="ct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r	LQIE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DB92"/>
                        </a:gs>
                        <a:gs pos="20000">
                          <a:srgbClr val="FF7C80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576993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G406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ROBOTS and HUMANS can’t damage SCORING ELEMENTS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FDL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05486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G407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ROBOTS can’t launch SCORING ELEMENTS into HUB unless their BUMPERS are partially or fully in their ALLIANCE ZONE (LQSNZ – G211L violation)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28600" algn="ctr"/>
                          <a:tab pos="448056" algn="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	LQSNZ	o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FFFF99"/>
                        </a:gs>
                        <a:gs pos="100000">
                          <a:srgbClr val="FFDB9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0" algn="l"/>
                          <a:tab pos="228600" algn="ct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r	LQSNZ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DB92"/>
                        </a:gs>
                        <a:gs pos="20000">
                          <a:srgbClr val="FF7C80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8280480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G408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ROBOTS can’t catch SCORING ELEMENTS directly from the HUB (greater than momentary contact or controlled redirection)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1786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5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ROBOT</a:t>
                      </a:r>
                    </a:p>
                  </a:txBody>
                  <a:tcPr marL="18288" marR="18288" marT="0" marB="0" vert="vert27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G409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ROBOTS must be safe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4292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G410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Keep BUMPERS in BUMPER ZONE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269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G411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ROBOTS can’t damage FIELD ELEMENTS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28600" algn="ctr"/>
                          <a:tab pos="448056" algn="r"/>
                        </a:tabLst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0" algn="l"/>
                          <a:tab pos="228600" algn="ctr"/>
                        </a:tabLst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FDL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8645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G412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ROBOTS can't grab, grasp, attach to, become entangled with, or suspend from FIELD ELEMENTS except for RUNGS and UPRIGHTS</a:t>
                      </a: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, R or M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FDL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 or M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3473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G413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ROBOTS can’t extend beyond FRAME PERIMETER over multiple sides (greater than MOMENTARY or consequential), or beyond 12” horizontally, or be taller than 30” (IEEL– G211J violation)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NPD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28600" algn="ctr"/>
                          <a:tab pos="448056" algn="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	</a:t>
                      </a: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	o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BAB8D4"/>
                        </a:gs>
                        <a:gs pos="80000">
                          <a:srgbClr val="9DC3E6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0" algn="l"/>
                          <a:tab pos="228600" algn="ct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	S</a:t>
                      </a:r>
                    </a:p>
                  </a:txBody>
                  <a:tcPr marL="0" marR="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BAB8D4"/>
                        </a:gs>
                        <a:gs pos="20000">
                          <a:srgbClr val="D7AEC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28600" algn="ctr"/>
                          <a:tab pos="448056" algn="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	IEEL	o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FFFF99"/>
                        </a:gs>
                        <a:gs pos="100000">
                          <a:srgbClr val="FFDB9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0" algn="l"/>
                          <a:tab pos="228600" algn="ct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r	IEEL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DB92"/>
                        </a:gs>
                        <a:gs pos="20000">
                          <a:srgbClr val="FF7C80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3880978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G414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ROBOTS may not fully support ALLIANCE MEMBERS while climbing the TOWER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SRITP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28600" algn="ctr"/>
                          <a:tab pos="457200" algn="r"/>
                        </a:tabLst>
                      </a:pPr>
                      <a:endParaRPr lang="en-US" sz="660" b="1" kern="100" spc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228600" algn="ctr"/>
                        </a:tabLst>
                        <a:defRPr/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46747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5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Opponent Interaction</a:t>
                      </a:r>
                    </a:p>
                  </a:txBody>
                  <a:tcPr marL="18288" marR="18288" marT="0" marB="0" vert="vert27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CA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G415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Stay out of opponent ROBOTS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Mutually exclusive, most punitive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59133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G416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No damaging or functionally impairing opponent ROBOTS, deliberately or within ROBOT PERIMETER regardless of intent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b="1" kern="100" spc="0" baseline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, UD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, UD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16553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G417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Don't deliberately attach to, tip, or entangle with opponent ROBOT</a:t>
                      </a: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b="1" kern="100" spc="0" baseline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, C or UD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 or UD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6144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G418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b="0" kern="100" spc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There’s a 3-count on PINS (15sec – G211E violation)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3sec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28600" algn="ctr"/>
                          <a:tab pos="448056" algn="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	15sec	o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FFFF99"/>
                        </a:gs>
                        <a:gs pos="100000">
                          <a:srgbClr val="FFDB9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0" algn="l"/>
                          <a:tab pos="228600" algn="ct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r	15sec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DB92"/>
                        </a:gs>
                        <a:gs pos="20000">
                          <a:srgbClr val="FF7C80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939038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G419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Don't collude with partners to shut down major parts of GAME PLAY</a:t>
                      </a: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, 3sec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5274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G420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Don’t directly or transitively contact opponent ROBOT in contact with their own TOWER during last 30 seconds of MATCH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OOGL3T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2597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5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HUMAN</a:t>
                      </a:r>
                    </a:p>
                  </a:txBody>
                  <a:tcPr marL="18288" marR="18288" marT="0" marB="0" vert="vert27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B2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G421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DRIVE TEAM must remain in designated areas during MATCHES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4130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G422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COACHES and other teams: hands off the controls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7933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G423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HUMANS may not extend beyond the colored tape on the CHUTE or in the CORRAL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44757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G424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HUMAN players may not deliberately use SCORING ELEMENTS to ease or amplify challenge associated with FIELD ELEMENTS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77724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28600" algn="ctr"/>
                          <a:tab pos="448056" algn="r"/>
                        </a:tabLst>
                      </a:pPr>
                      <a:endParaRPr lang="en-US" sz="660" b="1" kern="100" spc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>
                          <a:tab pos="228600" algn="ctr"/>
                          <a:tab pos="448056" algn="r"/>
                        </a:tabLst>
                        <a:defRPr/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98156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G425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SCORING ELEMENTS may only be entered to the FIELD by HUMANS through the CHUTE, through the bottom opening in the OUTPOST, or thrown from OUTPOST AREA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533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G426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COACHES may not contact SCORING ELEMENTS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2361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vert="vert27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89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vert="vert27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B2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G427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If CORRAL and CHUTE are full, excess SCORING ELEMENTS must immediately be entered into the FIELD (LQIS – G211K violation)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A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228600" algn="ctr"/>
                          <a:tab pos="448056" algn="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	LQIS	o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FFFF99"/>
                        </a:gs>
                        <a:gs pos="100000">
                          <a:srgbClr val="FFDB9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0" algn="l"/>
                          <a:tab pos="228600" algn="ctr"/>
                        </a:tabLs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r	LQIS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DB92"/>
                        </a:gs>
                        <a:gs pos="20000">
                          <a:srgbClr val="FF7C80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07089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30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Post-MATCH</a:t>
                      </a:r>
                    </a:p>
                  </a:txBody>
                  <a:tcPr marL="18288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CEB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G501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Leave promptly after MATCH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90046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35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Inspection</a:t>
                      </a:r>
                    </a:p>
                  </a:txBody>
                  <a:tcPr marL="18288" marR="182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I102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Get inspected before playing a MATCH (PR – T201)</a:t>
                      </a: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PM</a:t>
                      </a: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DQ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AM</a:t>
                      </a: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PR</a:t>
                      </a:r>
                      <a:endParaRPr lang="en-US" sz="660" b="1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63144"/>
                  </a:ext>
                </a:extLst>
              </a:tr>
              <a:tr h="0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500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Tourna-</a:t>
                      </a:r>
                      <a:r>
                        <a:rPr lang="en-US" sz="500" kern="100" spc="0" baseline="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ment</a:t>
                      </a:r>
                      <a:endParaRPr lang="en-US" sz="50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T201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kern="100" spc="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Replayed MATCHES will start using same conditions</a:t>
                      </a: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WSUSC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798320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5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" marR="18288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T301</a:t>
                      </a:r>
                    </a:p>
                  </a:txBody>
                  <a:tcPr marL="18288" marR="18288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60" b="0" kern="100" spc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ROBOTS will not drive, extend, or interact with FIELD ELEMENTS during ARENA measurement period</a:t>
                      </a:r>
                      <a:endParaRPr lang="en-US" sz="660" b="0" kern="100" spc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70" marR="10270" marT="9144" marB="914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7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66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660" kern="100" spc="0" baseline="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9786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269C52-448A-A778-5CB9-B7439A919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062119"/>
              </p:ext>
            </p:extLst>
          </p:nvPr>
        </p:nvGraphicFramePr>
        <p:xfrm>
          <a:off x="5910797" y="246338"/>
          <a:ext cx="1708651" cy="535838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58761">
                  <a:extLst>
                    <a:ext uri="{9D8B030D-6E8A-4147-A177-3AD203B41FA5}">
                      <a16:colId xmlns:a16="http://schemas.microsoft.com/office/drawing/2014/main" val="3205606415"/>
                    </a:ext>
                  </a:extLst>
                </a:gridCol>
                <a:gridCol w="1249890">
                  <a:extLst>
                    <a:ext uri="{9D8B030D-6E8A-4147-A177-3AD203B41FA5}">
                      <a16:colId xmlns:a16="http://schemas.microsoft.com/office/drawing/2014/main" val="31011599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Explanation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266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2min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not MATCH ready within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min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warning or not making good faith effort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526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3sec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every additional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sec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onds in which situation is not corrected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391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AIBRP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LLIANCE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neligible for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ONUS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522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fter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ATCH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941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greater than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ONTINUOUS (10 seconds)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518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CDRVLA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ool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own period;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epeat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iolators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ose HEAD REFEREE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ccess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015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DM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uring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ATCH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7701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DQ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ualified</a:t>
                      </a:r>
                      <a:endParaRPr lang="en-US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931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Egr</a:t>
                      </a:r>
                      <a:endParaRPr lang="en-US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egr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egious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672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IAI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ntentional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UTO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nterference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45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IEEL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ntentionally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xceeding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xpansion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imits as a strategy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411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LQIE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arge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uantity of SCORING ELEMENTS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ntentionally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jected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061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LQIS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arge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uantity of SCORING ELEMENTS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mproperly stored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95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LQSNZ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arge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uantity of SCORING ELEMENTS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cored from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EUTRAL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ONE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903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greater than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OMENTARY (3 seconds)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0024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enalty assessed to victim ALLIANCE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6659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NQ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uickly fixed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369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rior to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ATCH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3184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otential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EPLAY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99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kern="100" spc="0" baseline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OOGL3T</a:t>
                      </a:r>
                      <a:endParaRPr lang="en-US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pponent ROBOT is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ff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round,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evel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sz="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OWER climb awarded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675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EPEATED during MATCH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499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RDP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 DOES PLAY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751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RDNP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 DOES NOT PLAY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931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strategic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692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ubsequent violations during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vent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548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SRITP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upported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OBOT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neligible for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OWER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oints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4000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SSP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ubsequent violations during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 tournament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hase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0089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UD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Opponent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nable to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rive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380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URPMWRI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ninspected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OBOT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laying or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odified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ithout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e-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nspection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471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VW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erbal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arning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299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WBA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ill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ddressed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360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WSUSC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MATCH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on’t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tart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ntil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ituation </a:t>
                      </a:r>
                      <a:r>
                        <a:rPr lang="en-US" sz="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sz="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orrected</a:t>
                      </a:r>
                    </a:p>
                  </a:txBody>
                  <a:tcPr marL="9144" marR="9144" marT="9144" marB="9144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2032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3EC5167-858D-4D48-7757-3641E7F9A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354637"/>
              </p:ext>
            </p:extLst>
          </p:nvPr>
        </p:nvGraphicFramePr>
        <p:xfrm>
          <a:off x="5908691" y="5686790"/>
          <a:ext cx="1708653" cy="149504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3209">
                  <a:extLst>
                    <a:ext uri="{9D8B030D-6E8A-4147-A177-3AD203B41FA5}">
                      <a16:colId xmlns:a16="http://schemas.microsoft.com/office/drawing/2014/main" val="1285392478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732140672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492019656"/>
                    </a:ext>
                  </a:extLst>
                </a:gridCol>
                <a:gridCol w="346594">
                  <a:extLst>
                    <a:ext uri="{9D8B030D-6E8A-4147-A177-3AD203B41FA5}">
                      <a16:colId xmlns:a16="http://schemas.microsoft.com/office/drawing/2014/main" val="167346965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MATCH POINTS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59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TELEOP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788341"/>
                  </a:ext>
                </a:extLst>
              </a:tr>
              <a:tr h="102285">
                <a:tc rowSpan="2"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FUEL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Scored in active HUB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615022"/>
                  </a:ext>
                </a:extLst>
              </a:tr>
              <a:tr h="102285">
                <a:tc vMerge="1">
                  <a:txBody>
                    <a:bodyPr/>
                    <a:lstStyle/>
                    <a:p>
                      <a:endParaRPr lang="en-US" sz="59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Scored in inactive HUB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081113"/>
                  </a:ext>
                </a:extLst>
              </a:tr>
              <a:tr h="102285">
                <a:tc rowSpan="3"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TOWER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Each ROBOT at LEVEL 1</a:t>
                      </a:r>
                    </a:p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 ROBOTS max in AUTO)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483510"/>
                  </a:ext>
                </a:extLst>
              </a:tr>
              <a:tr h="102285">
                <a:tc vMerge="1">
                  <a:txBody>
                    <a:bodyPr/>
                    <a:lstStyle/>
                    <a:p>
                      <a:endParaRPr lang="en-US" sz="59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Each ROBOT at LEVEL 2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6107792"/>
                  </a:ext>
                </a:extLst>
              </a:tr>
              <a:tr h="102285">
                <a:tc vMerge="1">
                  <a:txBody>
                    <a:bodyPr/>
                    <a:lstStyle/>
                    <a:p>
                      <a:endParaRPr lang="en-US" sz="59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Each ROBOT at LEVEL 3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83665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MINOR FOUL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59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44153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MAJOR FOUL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59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6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40685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C12DEFE-6E1D-CFDE-55A5-1EC9436D0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825617"/>
              </p:ext>
            </p:extLst>
          </p:nvPr>
        </p:nvGraphicFramePr>
        <p:xfrm>
          <a:off x="5908691" y="7264989"/>
          <a:ext cx="1708652" cy="25364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23859">
                  <a:extLst>
                    <a:ext uri="{9D8B030D-6E8A-4147-A177-3AD203B41FA5}">
                      <a16:colId xmlns:a16="http://schemas.microsoft.com/office/drawing/2014/main" val="1938489803"/>
                    </a:ext>
                  </a:extLst>
                </a:gridCol>
                <a:gridCol w="846595">
                  <a:extLst>
                    <a:ext uri="{9D8B030D-6E8A-4147-A177-3AD203B41FA5}">
                      <a16:colId xmlns:a16="http://schemas.microsoft.com/office/drawing/2014/main" val="3651798124"/>
                    </a:ext>
                  </a:extLst>
                </a:gridCol>
                <a:gridCol w="338198">
                  <a:extLst>
                    <a:ext uri="{9D8B030D-6E8A-4147-A177-3AD203B41FA5}">
                      <a16:colId xmlns:a16="http://schemas.microsoft.com/office/drawing/2014/main" val="3020477121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/>
                      <a:r>
                        <a:rPr lang="en-US" sz="59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AWARD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CRITERIA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RANK. PTS.</a:t>
                      </a: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373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ENERGIZED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FUEL scored in active HUB is above:</a:t>
                      </a:r>
                    </a:p>
                    <a:p>
                      <a:pPr marL="0" algn="l" defTabSz="777240" rtl="0" eaLnBrk="1" latinLnBrk="0" hangingPunct="1">
                        <a:tabLst>
                          <a:tab pos="628650" algn="l"/>
                        </a:tabLst>
                      </a:pPr>
                      <a:r>
                        <a:rPr lang="en-US" sz="59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Regional/District: 	100</a:t>
                      </a:r>
                    </a:p>
                    <a:p>
                      <a:pPr marL="0" algn="l" defTabSz="777240" rtl="0" eaLnBrk="1" latinLnBrk="0" hangingPunct="1">
                        <a:tabLst>
                          <a:tab pos="628650" algn="l"/>
                        </a:tabLst>
                      </a:pPr>
                      <a:r>
                        <a:rPr lang="en-US" sz="59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District Champs: 	TBA</a:t>
                      </a:r>
                    </a:p>
                    <a:p>
                      <a:pPr>
                        <a:tabLst>
                          <a:tab pos="628650" algn="l"/>
                        </a:tabLst>
                      </a:pPr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 Champ: 	TBA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258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SUPER-CHARGED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FUEL scored in active HUB is above:</a:t>
                      </a:r>
                    </a:p>
                    <a:p>
                      <a:pPr marL="0" algn="l" defTabSz="777240" rtl="0" eaLnBrk="1" latinLnBrk="0" hangingPunct="1">
                        <a:tabLst>
                          <a:tab pos="628650" algn="l"/>
                        </a:tabLst>
                      </a:pPr>
                      <a:r>
                        <a:rPr lang="en-US" sz="59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Regional/District: 	360</a:t>
                      </a:r>
                    </a:p>
                    <a:p>
                      <a:pPr marL="0" algn="l" defTabSz="777240" rtl="0" eaLnBrk="1" latinLnBrk="0" hangingPunct="1">
                        <a:tabLst>
                          <a:tab pos="628650" algn="l"/>
                        </a:tabLst>
                      </a:pPr>
                      <a:r>
                        <a:rPr lang="en-US" sz="59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District Champs: 	TBA</a:t>
                      </a:r>
                    </a:p>
                    <a:p>
                      <a:pPr>
                        <a:tabLst>
                          <a:tab pos="628650" algn="l"/>
                        </a:tabLst>
                      </a:pPr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 Champ: 	TBA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345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TRAVERSAL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TOWER points scored is above:</a:t>
                      </a:r>
                    </a:p>
                    <a:p>
                      <a:pPr marL="0" algn="l" defTabSz="777240" rtl="0" eaLnBrk="1" latinLnBrk="0" hangingPunct="1">
                        <a:tabLst>
                          <a:tab pos="628650" algn="l"/>
                        </a:tabLst>
                      </a:pPr>
                      <a:r>
                        <a:rPr lang="en-US" sz="59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Regional/District: 	50</a:t>
                      </a:r>
                    </a:p>
                    <a:p>
                      <a:pPr marL="0" algn="l" defTabSz="777240" rtl="0" eaLnBrk="1" latinLnBrk="0" hangingPunct="1">
                        <a:tabLst>
                          <a:tab pos="628650" algn="l"/>
                        </a:tabLst>
                      </a:pPr>
                      <a:r>
                        <a:rPr lang="en-US" sz="59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District Champs: 	TBA</a:t>
                      </a:r>
                    </a:p>
                    <a:p>
                      <a:pPr>
                        <a:tabLst>
                          <a:tab pos="628650" algn="l"/>
                        </a:tabLst>
                      </a:pPr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 Champ: 	TBA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5609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completing a MATCH with more MATCH points than your opponent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41688"/>
                  </a:ext>
                </a:extLst>
              </a:tr>
              <a:tr h="148590"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completing a MATCH with the same number of MATCH points as your opponent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065747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329976B-9A2F-08E1-7FF4-B4287605D0CD}"/>
              </a:ext>
            </a:extLst>
          </p:cNvPr>
          <p:cNvSpPr txBox="1"/>
          <p:nvPr/>
        </p:nvSpPr>
        <p:spPr>
          <a:xfrm>
            <a:off x="151130" y="9333969"/>
            <a:ext cx="1280378" cy="281616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5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updated: 0231Z 15 FEB 2026</a:t>
            </a:r>
          </a:p>
          <a:p>
            <a:pPr algn="ctr"/>
            <a:r>
              <a:rPr lang="en-US" sz="5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Update 10</a:t>
            </a:r>
          </a:p>
          <a:p>
            <a:pPr algn="ctr"/>
            <a:r>
              <a:rPr lang="en-US" sz="5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HRQ Update: N/A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058378-B8BA-D138-8C91-ACFE8F7F9B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39"/>
          <a:stretch>
            <a:fillRect/>
          </a:stretch>
        </p:blipFill>
        <p:spPr>
          <a:xfrm>
            <a:off x="297988" y="8901281"/>
            <a:ext cx="986662" cy="44873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527BBCD-A046-3C69-0CB1-82CF7538204E}"/>
              </a:ext>
            </a:extLst>
          </p:cNvPr>
          <p:cNvGrpSpPr/>
          <p:nvPr/>
        </p:nvGrpSpPr>
        <p:grpSpPr>
          <a:xfrm>
            <a:off x="1504262" y="8899940"/>
            <a:ext cx="4352174" cy="984885"/>
            <a:chOff x="1504262" y="9025128"/>
            <a:chExt cx="4352174" cy="98488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D620A0-96A1-FCD4-622B-C7D3B293EEC9}"/>
                </a:ext>
              </a:extLst>
            </p:cNvPr>
            <p:cNvSpPr/>
            <p:nvPr/>
          </p:nvSpPr>
          <p:spPr>
            <a:xfrm>
              <a:off x="1798062" y="9025641"/>
              <a:ext cx="4058374" cy="900551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2D7C986-3F09-0594-8B38-E285E8579132}"/>
                </a:ext>
              </a:extLst>
            </p:cNvPr>
            <p:cNvSpPr txBox="1"/>
            <p:nvPr/>
          </p:nvSpPr>
          <p:spPr>
            <a:xfrm>
              <a:off x="1798063" y="9025644"/>
              <a:ext cx="2020824" cy="954107"/>
            </a:xfrm>
            <a:prstGeom prst="rect">
              <a:avLst/>
            </a:prstGeom>
            <a:noFill/>
          </p:spPr>
          <p:txBody>
            <a:bodyPr wrap="square" lIns="45720" tIns="45720" rIns="45720" bIns="45720" rtlCol="0">
              <a:spAutoFit/>
            </a:bodyPr>
            <a:lstStyle/>
            <a:p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To qualify for a specific level, ROBOTS must meet the following conditions:</a:t>
              </a:r>
              <a:b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Level 1: ROBOT is not touching CARPET or TOWER BASE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Level 2: ROBOT’s BUMPERS are completely above the LOW RUNG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Level 3: ROBOT’s BUMPERS are completely above the MID RUNG</a:t>
              </a:r>
            </a:p>
            <a:p>
              <a:endParaRPr 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FE0E575-27E0-87DA-55D5-38B1219BDCA9}"/>
                </a:ext>
              </a:extLst>
            </p:cNvPr>
            <p:cNvSpPr txBox="1"/>
            <p:nvPr/>
          </p:nvSpPr>
          <p:spPr>
            <a:xfrm>
              <a:off x="1504262" y="9025643"/>
              <a:ext cx="292388" cy="90054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vert="vert270" wrap="square" lIns="45720" tIns="45720" rIns="45720" bIns="45720" rtlCol="0" anchor="ctr">
              <a:spAutoFit/>
            </a:bodyPr>
            <a:lstStyle/>
            <a:p>
              <a:pPr algn="ctr"/>
              <a:r>
                <a:rPr lang="en-US" sz="650" b="1" dirty="0">
                  <a:latin typeface="Arial" panose="020B0604020202020204" pitchFamily="34" charset="0"/>
                  <a:cs typeface="Arial" panose="020B0604020202020204" pitchFamily="34" charset="0"/>
                </a:rPr>
                <a:t>ROBOT SCORING ASSESSMENT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FE5694-A65D-A047-AA80-E10CFE5012A0}"/>
                </a:ext>
              </a:extLst>
            </p:cNvPr>
            <p:cNvSpPr txBox="1"/>
            <p:nvPr/>
          </p:nvSpPr>
          <p:spPr>
            <a:xfrm>
              <a:off x="3774437" y="9025128"/>
              <a:ext cx="2020824" cy="984885"/>
            </a:xfrm>
            <a:prstGeom prst="rect">
              <a:avLst/>
            </a:prstGeom>
            <a:noFill/>
          </p:spPr>
          <p:txBody>
            <a:bodyPr wrap="square" lIns="45720" tIns="45720" rIns="45720" bIns="45720" rtlCol="0">
              <a:spAutoFit/>
            </a:bodyPr>
            <a:lstStyle/>
            <a:p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ROBOT must be contacting at least one RUNG and/or at least one UPRIGHT, and may only contact the following:</a:t>
              </a:r>
            </a:p>
            <a:p>
              <a:endParaRPr lang="en-US" sz="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TOWER WALL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Support structure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FUEL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Another ROBOT</a:t>
              </a:r>
            </a:p>
            <a:p>
              <a:endParaRPr lang="en-US" sz="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ROBOTS only earn LEVEL 1 points during AUTO, and a single level at the end of TELEOP.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7B2A21F-247D-2BE5-93CA-79BE664CEC78}"/>
              </a:ext>
            </a:extLst>
          </p:cNvPr>
          <p:cNvSpPr/>
          <p:nvPr/>
        </p:nvSpPr>
        <p:spPr>
          <a:xfrm>
            <a:off x="111125" y="9522068"/>
            <a:ext cx="1360388" cy="298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96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13880</TotalTime>
  <Words>1351</Words>
  <Application>Microsoft Office PowerPoint</Application>
  <PresentationFormat>Custom</PresentationFormat>
  <Paragraphs>371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Tyndall</dc:creator>
  <cp:lastModifiedBy>Dan Tyndall</cp:lastModifiedBy>
  <cp:revision>3</cp:revision>
  <cp:lastPrinted>2026-02-15T02:46:18Z</cp:lastPrinted>
  <dcterms:created xsi:type="dcterms:W3CDTF">2025-01-05T00:25:39Z</dcterms:created>
  <dcterms:modified xsi:type="dcterms:W3CDTF">2026-02-17T20:20:13Z</dcterms:modified>
</cp:coreProperties>
</file>