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772400" cy="10058400"/>
  <p:notesSz cx="7010400" cy="9296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E76F"/>
    <a:srgbClr val="D7AEC2"/>
    <a:srgbClr val="CCCCCC"/>
    <a:srgbClr val="000000"/>
    <a:srgbClr val="FFFF99"/>
    <a:srgbClr val="9DC3E6"/>
    <a:srgbClr val="FF7C80"/>
    <a:srgbClr val="F5B183"/>
    <a:srgbClr val="FFDB92"/>
    <a:srgbClr val="BAB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EA4A79-4744-402B-BB1E-DE6DA07840E2}" v="33" dt="2026-03-06T01:29:20.6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113" autoAdjust="0"/>
    <p:restoredTop sz="94660"/>
  </p:normalViewPr>
  <p:slideViewPr>
    <p:cSldViewPr snapToGrid="0">
      <p:cViewPr>
        <p:scale>
          <a:sx n="166" d="100"/>
          <a:sy n="166" d="100"/>
        </p:scale>
        <p:origin x="60" y="-6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Tyndall" userId="36a36dfb8b9635bb" providerId="LiveId" clId="{89D54495-50C3-4D70-BC00-2EBDF1CACF95}"/>
    <pc:docChg chg="undo custSel modSld modNotesMaster">
      <pc:chgData name="Dan Tyndall" userId="36a36dfb8b9635bb" providerId="LiveId" clId="{89D54495-50C3-4D70-BC00-2EBDF1CACF95}" dt="2026-03-12T20:16:43.698" v="840" actId="20577"/>
      <pc:docMkLst>
        <pc:docMk/>
      </pc:docMkLst>
      <pc:sldChg chg="modSp mod">
        <pc:chgData name="Dan Tyndall" userId="36a36dfb8b9635bb" providerId="LiveId" clId="{89D54495-50C3-4D70-BC00-2EBDF1CACF95}" dt="2026-03-12T20:16:43.698" v="840" actId="20577"/>
        <pc:sldMkLst>
          <pc:docMk/>
          <pc:sldMk cId="852296657" sldId="256"/>
        </pc:sldMkLst>
        <pc:spChg chg="mod">
          <ac:chgData name="Dan Tyndall" userId="36a36dfb8b9635bb" providerId="LiveId" clId="{89D54495-50C3-4D70-BC00-2EBDF1CACF95}" dt="2026-03-06T01:18:02.845" v="655" actId="1035"/>
          <ac:spMkLst>
            <pc:docMk/>
            <pc:sldMk cId="852296657" sldId="256"/>
            <ac:spMk id="2" creationId="{C393B009-B5A7-DD54-44E2-6FB68D227C8F}"/>
          </ac:spMkLst>
        </pc:spChg>
        <pc:spChg chg="mod ord">
          <ac:chgData name="Dan Tyndall" userId="36a36dfb8b9635bb" providerId="LiveId" clId="{89D54495-50C3-4D70-BC00-2EBDF1CACF95}" dt="2026-03-06T01:54:54.720" v="826" actId="166"/>
          <ac:spMkLst>
            <pc:docMk/>
            <pc:sldMk cId="852296657" sldId="256"/>
            <ac:spMk id="3" creationId="{F7B2A21F-247D-2BE5-93CA-79BE664CEC78}"/>
          </ac:spMkLst>
        </pc:spChg>
        <pc:spChg chg="mod">
          <ac:chgData name="Dan Tyndall" userId="36a36dfb8b9635bb" providerId="LiveId" clId="{89D54495-50C3-4D70-BC00-2EBDF1CACF95}" dt="2026-03-06T01:16:30.206" v="646" actId="20577"/>
          <ac:spMkLst>
            <pc:docMk/>
            <pc:sldMk cId="852296657" sldId="256"/>
            <ac:spMk id="11" creationId="{17FE5694-A65D-A047-AA80-E10CFE5012A0}"/>
          </ac:spMkLst>
        </pc:spChg>
        <pc:spChg chg="mod">
          <ac:chgData name="Dan Tyndall" userId="36a36dfb8b9635bb" providerId="LiveId" clId="{89D54495-50C3-4D70-BC00-2EBDF1CACF95}" dt="2026-03-06T01:16:52.869" v="647" actId="14100"/>
          <ac:spMkLst>
            <pc:docMk/>
            <pc:sldMk cId="852296657" sldId="256"/>
            <ac:spMk id="16" creationId="{B7D620A0-96A1-FCD4-622B-C7D3B293EEC9}"/>
          </ac:spMkLst>
        </pc:spChg>
        <pc:spChg chg="mod">
          <ac:chgData name="Dan Tyndall" userId="36a36dfb8b9635bb" providerId="LiveId" clId="{89D54495-50C3-4D70-BC00-2EBDF1CACF95}" dt="2026-03-06T01:16:56.457" v="648" actId="14100"/>
          <ac:spMkLst>
            <pc:docMk/>
            <pc:sldMk cId="852296657" sldId="256"/>
            <ac:spMk id="17" creationId="{DFE0E575-27E0-87DA-55D5-38B1219BDCA9}"/>
          </ac:spMkLst>
        </pc:spChg>
        <pc:spChg chg="mod">
          <ac:chgData name="Dan Tyndall" userId="36a36dfb8b9635bb" providerId="LiveId" clId="{89D54495-50C3-4D70-BC00-2EBDF1CACF95}" dt="2026-03-12T20:16:43.698" v="840" actId="20577"/>
          <ac:spMkLst>
            <pc:docMk/>
            <pc:sldMk cId="852296657" sldId="256"/>
            <ac:spMk id="24" creationId="{D329976B-9A2F-08E1-7FF4-B4287605D0CD}"/>
          </ac:spMkLst>
        </pc:spChg>
        <pc:grpChg chg="mod">
          <ac:chgData name="Dan Tyndall" userId="36a36dfb8b9635bb" providerId="LiveId" clId="{89D54495-50C3-4D70-BC00-2EBDF1CACF95}" dt="2026-03-06T01:18:02.845" v="655" actId="1035"/>
          <ac:grpSpMkLst>
            <pc:docMk/>
            <pc:sldMk cId="852296657" sldId="256"/>
            <ac:grpSpMk id="12" creationId="{F527BBCD-A046-3C69-0CB1-82CF7538204E}"/>
          </ac:grpSpMkLst>
        </pc:grpChg>
        <pc:graphicFrameChg chg="mod modGraphic">
          <ac:chgData name="Dan Tyndall" userId="36a36dfb8b9635bb" providerId="LiveId" clId="{89D54495-50C3-4D70-BC00-2EBDF1CACF95}" dt="2026-03-06T01:29:20.620" v="709"/>
          <ac:graphicFrameMkLst>
            <pc:docMk/>
            <pc:sldMk cId="852296657" sldId="256"/>
            <ac:graphicFrameMk id="4" creationId="{A35698A0-0B3C-C0A7-5C0F-5792D61CA9D2}"/>
          </ac:graphicFrameMkLst>
        </pc:graphicFrameChg>
        <pc:graphicFrameChg chg="mod modGraphic">
          <ac:chgData name="Dan Tyndall" userId="36a36dfb8b9635bb" providerId="LiveId" clId="{89D54495-50C3-4D70-BC00-2EBDF1CACF95}" dt="2026-03-06T01:30:00.862" v="748" actId="20577"/>
          <ac:graphicFrameMkLst>
            <pc:docMk/>
            <pc:sldMk cId="852296657" sldId="256"/>
            <ac:graphicFrameMk id="8" creationId="{F8269C52-448A-A778-5CB9-B7439A9199A6}"/>
          </ac:graphicFrameMkLst>
        </pc:graphicFrameChg>
        <pc:graphicFrameChg chg="mod">
          <ac:chgData name="Dan Tyndall" userId="36a36dfb8b9635bb" providerId="LiveId" clId="{89D54495-50C3-4D70-BC00-2EBDF1CACF95}" dt="2026-03-06T01:30:11.639" v="763" actId="1035"/>
          <ac:graphicFrameMkLst>
            <pc:docMk/>
            <pc:sldMk cId="852296657" sldId="256"/>
            <ac:graphicFrameMk id="13" creationId="{03EC5167-858D-4D48-7757-3641E7F9AF53}"/>
          </ac:graphicFrameMkLst>
        </pc:graphicFrameChg>
        <pc:graphicFrameChg chg="mod modGraphic">
          <ac:chgData name="Dan Tyndall" userId="36a36dfb8b9635bb" providerId="LiveId" clId="{89D54495-50C3-4D70-BC00-2EBDF1CACF95}" dt="2026-03-06T01:18:02.845" v="655" actId="1035"/>
          <ac:graphicFrameMkLst>
            <pc:docMk/>
            <pc:sldMk cId="852296657" sldId="256"/>
            <ac:graphicFrameMk id="19" creationId="{3C12DEFE-6E1D-CFDE-55A5-1EC9436D0091}"/>
          </ac:graphicFrameMkLst>
        </pc:graphicFrameChg>
        <pc:picChg chg="mod">
          <ac:chgData name="Dan Tyndall" userId="36a36dfb8b9635bb" providerId="LiveId" clId="{89D54495-50C3-4D70-BC00-2EBDF1CACF95}" dt="2026-03-06T01:18:02.845" v="655" actId="1035"/>
          <ac:picMkLst>
            <pc:docMk/>
            <pc:sldMk cId="852296657" sldId="256"/>
            <ac:picMk id="9" creationId="{87058378-B8BA-D138-8C91-ACFE8F7F9B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6434"/>
          </a:xfrm>
          <a:prstGeom prst="rect">
            <a:avLst/>
          </a:prstGeom>
        </p:spPr>
        <p:txBody>
          <a:bodyPr vert="horz" lIns="93066" tIns="46533" rIns="93066" bIns="46533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1"/>
            <a:ext cx="3037840" cy="466434"/>
          </a:xfrm>
          <a:prstGeom prst="rect">
            <a:avLst/>
          </a:prstGeom>
        </p:spPr>
        <p:txBody>
          <a:bodyPr vert="horz" lIns="93066" tIns="46533" rIns="93066" bIns="46533" rtlCol="0"/>
          <a:lstStyle>
            <a:lvl1pPr algn="r">
              <a:defRPr sz="1300"/>
            </a:lvl1pPr>
          </a:lstStyle>
          <a:p>
            <a:fld id="{A4389002-FAFD-4675-8BE8-A0C80DF0744B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3938" y="1162050"/>
            <a:ext cx="2422525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066" tIns="46533" rIns="93066" bIns="4653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1" y="4473893"/>
            <a:ext cx="5608320" cy="3660458"/>
          </a:xfrm>
          <a:prstGeom prst="rect">
            <a:avLst/>
          </a:prstGeom>
        </p:spPr>
        <p:txBody>
          <a:bodyPr vert="horz" lIns="93066" tIns="46533" rIns="93066" bIns="4653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74"/>
            <a:ext cx="3037840" cy="466433"/>
          </a:xfrm>
          <a:prstGeom prst="rect">
            <a:avLst/>
          </a:prstGeom>
        </p:spPr>
        <p:txBody>
          <a:bodyPr vert="horz" lIns="93066" tIns="46533" rIns="93066" bIns="46533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829974"/>
            <a:ext cx="3037840" cy="466433"/>
          </a:xfrm>
          <a:prstGeom prst="rect">
            <a:avLst/>
          </a:prstGeom>
        </p:spPr>
        <p:txBody>
          <a:bodyPr vert="horz" lIns="93066" tIns="46533" rIns="93066" bIns="46533" rtlCol="0" anchor="b"/>
          <a:lstStyle>
            <a:lvl1pPr algn="r">
              <a:defRPr sz="1300"/>
            </a:lvl1pPr>
          </a:lstStyle>
          <a:p>
            <a:fld id="{5C235514-82AE-4928-851B-FE1D5E1E0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35514-82AE-4928-851B-FE1D5E1E0F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4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55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19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0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7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27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4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7CB61-055E-4C8B-9681-CA3A44B02D62}" type="datetimeFigureOut">
              <a:rPr lang="en-US" smtClean="0"/>
              <a:t>09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6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3B009-B5A7-DD54-44E2-6FB68D227C8F}"/>
              </a:ext>
            </a:extLst>
          </p:cNvPr>
          <p:cNvSpPr txBox="1">
            <a:spLocks/>
          </p:cNvSpPr>
          <p:nvPr/>
        </p:nvSpPr>
        <p:spPr>
          <a:xfrm>
            <a:off x="151130" y="9594656"/>
            <a:ext cx="1280378" cy="193899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570" b="1" dirty="0" err="1">
                <a:latin typeface="Arial" panose="020B0604020202020204" pitchFamily="34" charset="0"/>
                <a:cs typeface="Arial" panose="020B0604020202020204" pitchFamily="34" charset="0"/>
              </a:rPr>
              <a:t>dan.tyndall</a:t>
            </a:r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 @ outlook.com for corrections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5698A0-0B3C-C0A7-5C0F-5792D61CA9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734651"/>
              </p:ext>
            </p:extLst>
          </p:nvPr>
        </p:nvGraphicFramePr>
        <p:xfrm>
          <a:off x="151130" y="236545"/>
          <a:ext cx="5702046" cy="8613267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{616DA210-FB5B-4158-B5E0-FEB733F419BA}</a:tableStyleId>
              </a:tblPr>
              <a:tblGrid>
                <a:gridCol w="133350">
                  <a:extLst>
                    <a:ext uri="{9D8B030D-6E8A-4147-A177-3AD203B41FA5}">
                      <a16:colId xmlns:a16="http://schemas.microsoft.com/office/drawing/2014/main" val="3312760365"/>
                    </a:ext>
                  </a:extLst>
                </a:gridCol>
                <a:gridCol w="137160">
                  <a:extLst>
                    <a:ext uri="{9D8B030D-6E8A-4147-A177-3AD203B41FA5}">
                      <a16:colId xmlns:a16="http://schemas.microsoft.com/office/drawing/2014/main" val="974077048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630308433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52168401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298472755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2335832143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4178597348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640511027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295697522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1419201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18288" marR="18288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Disable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Yellow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6866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Ref/</a:t>
                      </a:r>
                      <a:b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FTA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Q101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STUDENT, 1 additional team member, and 1 HEAD REFEREE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75831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Q102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Conversations must be civil (</a:t>
                      </a:r>
                      <a:r>
                        <a:rPr lang="en-US" sz="66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 – G211A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675284320"/>
                  </a:ext>
                </a:extLst>
              </a:tr>
              <a:tr h="0">
                <a:tc rowSpan="4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Personal Safety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reach into the field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8090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Never step over the guardrail; enter only when FIELD is green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5506832"/>
                  </a:ext>
                </a:extLst>
              </a:tr>
              <a:tr h="5045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HUMANS, be careful what you interact with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4675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enable your ROBOT while you are on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609974"/>
                  </a:ext>
                </a:extLst>
              </a:tr>
              <a:tr h="0">
                <a:tc rowSpan="1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Conduct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a good person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920168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bang on the glass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591492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ask opponents to throw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5843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be coerced into throwing a MATCH by opponents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79771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throw your own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77433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collude to purposely violate rules to earn RPs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32716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abuse ARENA access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56584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Show up to your QUALIFICATION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39779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cannot intentionally detach or leave parts in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34941"/>
                  </a:ext>
                </a:extLst>
              </a:tr>
              <a:tr h="6362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forcing opponents to violate rules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465621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Egregious or exceptional violations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6438324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discouraging another team from playing in QUAL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RDP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RDNP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11587577"/>
                  </a:ext>
                </a:extLst>
              </a:tr>
              <a:tr h="0">
                <a:tc rowSpan="3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Pre-MATCH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prompt (if PLAYOFFS, VW applies to ALLIANCE)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0621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You can’t bring/use anything you want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908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in STARTING CONFIGURATION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095137"/>
                  </a:ext>
                </a:extLst>
              </a:tr>
              <a:tr h="0">
                <a:tc rowSpan="2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behind the STARTING LINE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32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touch controls except E-STOP/A-STOP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67560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contact opponent during AUTO if your BUMPERS are completely across CENTER LINE (IAI – G211H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IAI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IAI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664535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deliberately use SCORING ELEMENTS to ease or amplify challenge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181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intentionally eject SCORING ELEMENTS out of the FIELD (LQIE – G211I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LQIE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576993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and HUMANS can’t damage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0548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launch SCORING ELEMENTS into HUB unless their BUMPERS are partially or fully in their ALLIANCE ZONE (LQSNZ – G211L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LQSNZ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LQSNZ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280480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catch SCORING ELEMENTS directly from the HUB (greater than momentary contact or controlled redirection)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VWIS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BAB8D4"/>
                        </a:gs>
                        <a:gs pos="80000">
                          <a:srgbClr val="9DC3E6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7013" algn="ctr"/>
                        </a:tabLs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	r	VWIS</a:t>
                      </a:r>
                    </a:p>
                  </a:txBody>
                  <a:tcPr marL="0" marR="0" marT="9144" marB="914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BAB8D4"/>
                        </a:gs>
                        <a:gs pos="20000">
                          <a:srgbClr val="D7AEC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7869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E95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safe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292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Keep BUMPERS in BUMPER ZONE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2696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damage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6452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can't grab, grasp, attach to, become entangled with, or suspend from FIELD ELEMENTS except for RUNGS and UPRIGHTS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R or M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 or 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473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extend beyond FRAME PERIMETER over multiple sides (greater than MOMENTARY or consequential), or beyond 12” horizontally, or be taller than 30” (IEEL– G211J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IEEL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IEEL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388097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may not fully support ALLIANCE MEMBERS while climbing the TOWER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4674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Opponent Interaction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Stay out of opponent ROBOTS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Mutually exclusive, most punitive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5913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damaging or functionally impairing opponent ROBOTS, deliberately or within ROBOT PERIMETER regardless of intent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655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deliberately attach to, tip, or entangle with opponent ROBOT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C or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 or UD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144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There’s a 3-count on PINS (15sec – G211E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15sec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15sec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939038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collude with partners to shut down major parts of GAME PLAY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3sec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52742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directly or transitively contact opponent ROBOT in contact with their own TOWER during last 30 seconds of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2597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DRIVE TEAM must remain in designated areas during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4130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and other teams: hands off the controls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933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extend beyond the colored tape on the CHUTE or in the CORRAL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475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 players may not deliberately use SCORING ELEMENTS to ease or amplify challenge associated with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9815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 may only be entered to the FIELD by HUMANS through the CHUTE, through the OUTPOST bottom opening, or thrown over ALLIANCE WALL from OUTPOST AREA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533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may not contact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22361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If CORRAL and CHUTE are full, excess SCORING ELEMENTS must immediately be entered into the FIELD (LQIS – G211K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LQIS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LQIS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107089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3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Post-MATCH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G501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Leave promptly after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90046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3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Inspection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Get inspected before playing a MATCH (PR – T201)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PR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3144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5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Tourna-</a:t>
                      </a:r>
                      <a:r>
                        <a:rPr lang="en-US" sz="50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ment</a:t>
                      </a:r>
                      <a:endParaRPr lang="en-US" sz="50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Replayed MATCHES will start using same conditions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9832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will not drive, extend, or interact with FIELD ELEMENTS during ARENA measurement period</a:t>
                      </a:r>
                      <a:endParaRPr lang="en-US" sz="660" b="0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97861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269C52-448A-A778-5CB9-B7439A919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222455"/>
              </p:ext>
            </p:extLst>
          </p:nvPr>
        </p:nvGraphicFramePr>
        <p:xfrm>
          <a:off x="5910797" y="236813"/>
          <a:ext cx="1708651" cy="5468112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58761">
                  <a:extLst>
                    <a:ext uri="{9D8B030D-6E8A-4147-A177-3AD203B41FA5}">
                      <a16:colId xmlns:a16="http://schemas.microsoft.com/office/drawing/2014/main" val="3205606415"/>
                    </a:ext>
                  </a:extLst>
                </a:gridCol>
                <a:gridCol w="1249890">
                  <a:extLst>
                    <a:ext uri="{9D8B030D-6E8A-4147-A177-3AD203B41FA5}">
                      <a16:colId xmlns:a16="http://schemas.microsoft.com/office/drawing/2014/main" val="3101159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26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not MATCH ready within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min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warning or not making good faith effort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152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 every additional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sec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onds in which situation is not corrected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9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LLIANCE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ONUS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52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fter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941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ONTINUOUS (10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51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period;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iolators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ose HEAD REFEREE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ccess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015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70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ualified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931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egious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67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nterference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4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xceeding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xpansion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imits as a strategy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411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61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mproperly stored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950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LQSNZ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cored from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EUTRAL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6903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OMENTARY (3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0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assessed to victim ALLIANCE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659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uickly fixed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369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rior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184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otential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99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 ROBOT is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round,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climb awarded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675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EPEATED during MATCH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499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75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NOT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931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strategic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169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548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upported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oints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4000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 tournament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08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Opponent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nable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rive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38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ninspected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laying 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odified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ithout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e-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nspection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2471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29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516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ill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ddressed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360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on’t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ntil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ituation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20324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3EC5167-858D-4D48-7757-3641E7F9A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800204"/>
              </p:ext>
            </p:extLst>
          </p:nvPr>
        </p:nvGraphicFramePr>
        <p:xfrm>
          <a:off x="5908691" y="5779063"/>
          <a:ext cx="1708653" cy="149504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3209">
                  <a:extLst>
                    <a:ext uri="{9D8B030D-6E8A-4147-A177-3AD203B41FA5}">
                      <a16:colId xmlns:a16="http://schemas.microsoft.com/office/drawing/2014/main" val="1285392478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7321406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2019656"/>
                    </a:ext>
                  </a:extLst>
                </a:gridCol>
                <a:gridCol w="346594">
                  <a:extLst>
                    <a:ext uri="{9D8B030D-6E8A-4147-A177-3AD203B41FA5}">
                      <a16:colId xmlns:a16="http://schemas.microsoft.com/office/drawing/2014/main" val="167346965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POINTS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TELEOP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788341"/>
                  </a:ext>
                </a:extLst>
              </a:tr>
              <a:tr h="102285">
                <a:tc rowSpan="2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61502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inactive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081113"/>
                  </a:ext>
                </a:extLst>
              </a:tr>
              <a:tr h="102285">
                <a:tc rowSpan="3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1</a:t>
                      </a:r>
                    </a:p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 ROBOTS max in AUTO)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1483510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2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610779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3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366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MINOR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4153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MAJOR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40685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C12DEFE-6E1D-CFDE-55A5-1EC9436D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131353"/>
              </p:ext>
            </p:extLst>
          </p:nvPr>
        </p:nvGraphicFramePr>
        <p:xfrm>
          <a:off x="5908691" y="7338825"/>
          <a:ext cx="1708652" cy="253647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3859">
                  <a:extLst>
                    <a:ext uri="{9D8B030D-6E8A-4147-A177-3AD203B41FA5}">
                      <a16:colId xmlns:a16="http://schemas.microsoft.com/office/drawing/2014/main" val="1938489803"/>
                    </a:ext>
                  </a:extLst>
                </a:gridCol>
                <a:gridCol w="846595">
                  <a:extLst>
                    <a:ext uri="{9D8B030D-6E8A-4147-A177-3AD203B41FA5}">
                      <a16:colId xmlns:a16="http://schemas.microsoft.com/office/drawing/2014/main" val="3651798124"/>
                    </a:ext>
                  </a:extLst>
                </a:gridCol>
                <a:gridCol w="338198">
                  <a:extLst>
                    <a:ext uri="{9D8B030D-6E8A-4147-A177-3AD203B41FA5}">
                      <a16:colId xmlns:a16="http://schemas.microsoft.com/office/drawing/2014/main" val="3020477121"/>
                    </a:ext>
                  </a:extLst>
                </a:gridCol>
              </a:tblGrid>
              <a:tr h="285526"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AWARD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CRITERIA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RANK. PTS.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37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ENERGIZED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100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52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SUPER-CHARGED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360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5345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TRAVERSAL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 points scored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50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9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WIN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more MATCH points than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41688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the same number of MATCH points as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06574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329976B-9A2F-08E1-7FF4-B4287605D0CD}"/>
              </a:ext>
            </a:extLst>
          </p:cNvPr>
          <p:cNvSpPr txBox="1"/>
          <p:nvPr/>
        </p:nvSpPr>
        <p:spPr>
          <a:xfrm>
            <a:off x="151130" y="9324444"/>
            <a:ext cx="1280378" cy="281616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Last updated</a:t>
            </a:r>
            <a:r>
              <a:rPr lang="en-US" sz="55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2016Z </a:t>
            </a:r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 MAR 2026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Update 16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HRQ Update: 5:46 PM 04 MAR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058378-B8BA-D138-8C91-ACFE8F7F9B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9"/>
          <a:stretch>
            <a:fillRect/>
          </a:stretch>
        </p:blipFill>
        <p:spPr>
          <a:xfrm>
            <a:off x="297988" y="8891756"/>
            <a:ext cx="986662" cy="44873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527BBCD-A046-3C69-0CB1-82CF7538204E}"/>
              </a:ext>
            </a:extLst>
          </p:cNvPr>
          <p:cNvGrpSpPr/>
          <p:nvPr/>
        </p:nvGrpSpPr>
        <p:grpSpPr>
          <a:xfrm>
            <a:off x="1504262" y="8890415"/>
            <a:ext cx="4352174" cy="1077218"/>
            <a:chOff x="1504262" y="9025128"/>
            <a:chExt cx="4352174" cy="107721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D620A0-96A1-FCD4-622B-C7D3B293EEC9}"/>
                </a:ext>
              </a:extLst>
            </p:cNvPr>
            <p:cNvSpPr/>
            <p:nvPr/>
          </p:nvSpPr>
          <p:spPr>
            <a:xfrm>
              <a:off x="1798062" y="9025641"/>
              <a:ext cx="4058374" cy="984371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2D7C986-3F09-0594-8B38-E285E8579132}"/>
                </a:ext>
              </a:extLst>
            </p:cNvPr>
            <p:cNvSpPr txBox="1"/>
            <p:nvPr/>
          </p:nvSpPr>
          <p:spPr>
            <a:xfrm>
              <a:off x="1798063" y="9025644"/>
              <a:ext cx="2020824" cy="954107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 qualify for a specific level, ROBOTS must meet the following conditions:</a:t>
              </a:r>
              <a:b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1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1: ROBOT is not touching CARPET or TOWER BASE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2: ROBOT’s BUMPERS are completely above the LOW RUNG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3: ROBOT’s BUMPERS are completely above the MID RUNG</a:t>
              </a:r>
            </a:p>
            <a:p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FE0E575-27E0-87DA-55D5-38B1219BDCA9}"/>
                </a:ext>
              </a:extLst>
            </p:cNvPr>
            <p:cNvSpPr txBox="1"/>
            <p:nvPr/>
          </p:nvSpPr>
          <p:spPr>
            <a:xfrm>
              <a:off x="1504262" y="9025643"/>
              <a:ext cx="292388" cy="984369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txBody>
            <a:bodyPr vert="vert270" wrap="square" lIns="45720" tIns="45720" rIns="45720" bIns="45720" rtlCol="0" anchor="ctr">
              <a:spAutoFit/>
            </a:bodyPr>
            <a:lstStyle/>
            <a:p>
              <a:pPr algn="ctr"/>
              <a:r>
                <a:rPr lang="en-US" sz="650" b="1" dirty="0">
                  <a:latin typeface="Arial" panose="020B0604020202020204" pitchFamily="34" charset="0"/>
                  <a:cs typeface="Arial" panose="020B0604020202020204" pitchFamily="34" charset="0"/>
                </a:rPr>
                <a:t>ROBOT SCORING ASSESSMENT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FE5694-A65D-A047-AA80-E10CFE5012A0}"/>
                </a:ext>
              </a:extLst>
            </p:cNvPr>
            <p:cNvSpPr txBox="1"/>
            <p:nvPr/>
          </p:nvSpPr>
          <p:spPr>
            <a:xfrm>
              <a:off x="3774437" y="9025128"/>
              <a:ext cx="2020824" cy="1077218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 must be contacting at least one RUNG and/or at least one UPRIGHT on their TOWER, and may only contact the following: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TOWER WALL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Support structure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FUEL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Another ROBOT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ROBOTS only earn LEVEL 1 points during AUTO, and a single level at the end of TELEOP.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7B2A21F-247D-2BE5-93CA-79BE664CEC78}"/>
              </a:ext>
            </a:extLst>
          </p:cNvPr>
          <p:cNvSpPr/>
          <p:nvPr/>
        </p:nvSpPr>
        <p:spPr>
          <a:xfrm>
            <a:off x="111125" y="9512542"/>
            <a:ext cx="1360388" cy="362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9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27209</TotalTime>
  <Words>1367</Words>
  <Application>Microsoft Office PowerPoint</Application>
  <PresentationFormat>Custom</PresentationFormat>
  <Paragraphs>374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Tyndall</dc:creator>
  <cp:lastModifiedBy>Dan Tyndall</cp:lastModifiedBy>
  <cp:revision>3</cp:revision>
  <cp:lastPrinted>2026-03-06T01:47:34Z</cp:lastPrinted>
  <dcterms:created xsi:type="dcterms:W3CDTF">2025-01-05T00:25:39Z</dcterms:created>
  <dcterms:modified xsi:type="dcterms:W3CDTF">2026-03-12T20:16:44Z</dcterms:modified>
</cp:coreProperties>
</file>