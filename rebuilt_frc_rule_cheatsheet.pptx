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7772400" cy="10058400"/>
  <p:notesSz cx="7102475" cy="93884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7E76F"/>
    <a:srgbClr val="D7AEC2"/>
    <a:srgbClr val="CCCCCC"/>
    <a:srgbClr val="000000"/>
    <a:srgbClr val="FFFF99"/>
    <a:srgbClr val="9DC3E6"/>
    <a:srgbClr val="FF7C80"/>
    <a:srgbClr val="F5B183"/>
    <a:srgbClr val="FFDB92"/>
    <a:srgbClr val="BAB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EA4A79-4744-402B-BB1E-DE6DA07840E2}" v="44" dt="2026-03-26T02:58:12.79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4113" autoAdjust="0"/>
    <p:restoredTop sz="94660"/>
  </p:normalViewPr>
  <p:slideViewPr>
    <p:cSldViewPr snapToGrid="0">
      <p:cViewPr>
        <p:scale>
          <a:sx n="150" d="100"/>
          <a:sy n="150" d="100"/>
        </p:scale>
        <p:origin x="1104" y="-49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 Tyndall" userId="36a36dfb8b9635bb" providerId="LiveId" clId="{89D54495-50C3-4D70-BC00-2EBDF1CACF95}"/>
    <pc:docChg chg="undo custSel modSld modNotesMaster">
      <pc:chgData name="Dan Tyndall" userId="36a36dfb8b9635bb" providerId="LiveId" clId="{89D54495-50C3-4D70-BC00-2EBDF1CACF95}" dt="2026-03-26T03:48:25.352" v="1057" actId="166"/>
      <pc:docMkLst>
        <pc:docMk/>
      </pc:docMkLst>
      <pc:sldChg chg="addSp modSp mod">
        <pc:chgData name="Dan Tyndall" userId="36a36dfb8b9635bb" providerId="LiveId" clId="{89D54495-50C3-4D70-BC00-2EBDF1CACF95}" dt="2026-03-26T03:48:25.352" v="1057" actId="166"/>
        <pc:sldMkLst>
          <pc:docMk/>
          <pc:sldMk cId="852296657" sldId="256"/>
        </pc:sldMkLst>
        <pc:spChg chg="mod">
          <ac:chgData name="Dan Tyndall" userId="36a36dfb8b9635bb" providerId="LiveId" clId="{89D54495-50C3-4D70-BC00-2EBDF1CACF95}" dt="2026-03-23T00:09:27.580" v="984" actId="1035"/>
          <ac:spMkLst>
            <pc:docMk/>
            <pc:sldMk cId="852296657" sldId="256"/>
            <ac:spMk id="2" creationId="{C393B009-B5A7-DD54-44E2-6FB68D227C8F}"/>
          </ac:spMkLst>
        </pc:spChg>
        <pc:spChg chg="mod ord">
          <ac:chgData name="Dan Tyndall" userId="36a36dfb8b9635bb" providerId="LiveId" clId="{89D54495-50C3-4D70-BC00-2EBDF1CACF95}" dt="2026-03-26T03:48:25.352" v="1057" actId="166"/>
          <ac:spMkLst>
            <pc:docMk/>
            <pc:sldMk cId="852296657" sldId="256"/>
            <ac:spMk id="3" creationId="{F7B2A21F-247D-2BE5-93CA-79BE664CEC78}"/>
          </ac:spMkLst>
        </pc:spChg>
        <pc:spChg chg="mod">
          <ac:chgData name="Dan Tyndall" userId="36a36dfb8b9635bb" providerId="LiveId" clId="{89D54495-50C3-4D70-BC00-2EBDF1CACF95}" dt="2026-03-23T00:10:04.871" v="991" actId="255"/>
          <ac:spMkLst>
            <pc:docMk/>
            <pc:sldMk cId="852296657" sldId="256"/>
            <ac:spMk id="11" creationId="{17FE5694-A65D-A047-AA80-E10CFE5012A0}"/>
          </ac:spMkLst>
        </pc:spChg>
        <pc:spChg chg="mod">
          <ac:chgData name="Dan Tyndall" userId="36a36dfb8b9635bb" providerId="LiveId" clId="{89D54495-50C3-4D70-BC00-2EBDF1CACF95}" dt="2026-03-23T00:10:17.275" v="993" actId="255"/>
          <ac:spMkLst>
            <pc:docMk/>
            <pc:sldMk cId="852296657" sldId="256"/>
            <ac:spMk id="14" creationId="{A2D7C986-3F09-0594-8B38-E285E8579132}"/>
          </ac:spMkLst>
        </pc:spChg>
        <pc:spChg chg="mod">
          <ac:chgData name="Dan Tyndall" userId="36a36dfb8b9635bb" providerId="LiveId" clId="{89D54495-50C3-4D70-BC00-2EBDF1CACF95}" dt="2026-03-23T00:09:42.110" v="986" actId="14100"/>
          <ac:spMkLst>
            <pc:docMk/>
            <pc:sldMk cId="852296657" sldId="256"/>
            <ac:spMk id="16" creationId="{B7D620A0-96A1-FCD4-622B-C7D3B293EEC9}"/>
          </ac:spMkLst>
        </pc:spChg>
        <pc:spChg chg="mod">
          <ac:chgData name="Dan Tyndall" userId="36a36dfb8b9635bb" providerId="LiveId" clId="{89D54495-50C3-4D70-BC00-2EBDF1CACF95}" dt="2026-03-23T00:09:37.419" v="985" actId="14100"/>
          <ac:spMkLst>
            <pc:docMk/>
            <pc:sldMk cId="852296657" sldId="256"/>
            <ac:spMk id="17" creationId="{DFE0E575-27E0-87DA-55D5-38B1219BDCA9}"/>
          </ac:spMkLst>
        </pc:spChg>
        <pc:spChg chg="mod">
          <ac:chgData name="Dan Tyndall" userId="36a36dfb8b9635bb" providerId="LiveId" clId="{89D54495-50C3-4D70-BC00-2EBDF1CACF95}" dt="2026-03-26T02:57:03.201" v="1054" actId="20577"/>
          <ac:spMkLst>
            <pc:docMk/>
            <pc:sldMk cId="852296657" sldId="256"/>
            <ac:spMk id="24" creationId="{D329976B-9A2F-08E1-7FF4-B4287605D0CD}"/>
          </ac:spMkLst>
        </pc:spChg>
        <pc:grpChg chg="mod">
          <ac:chgData name="Dan Tyndall" userId="36a36dfb8b9635bb" providerId="LiveId" clId="{89D54495-50C3-4D70-BC00-2EBDF1CACF95}" dt="2026-03-23T00:09:27.580" v="984" actId="1035"/>
          <ac:grpSpMkLst>
            <pc:docMk/>
            <pc:sldMk cId="852296657" sldId="256"/>
            <ac:grpSpMk id="12" creationId="{F527BBCD-A046-3C69-0CB1-82CF7538204E}"/>
          </ac:grpSpMkLst>
        </pc:grpChg>
        <pc:graphicFrameChg chg="mod modGraphic">
          <ac:chgData name="Dan Tyndall" userId="36a36dfb8b9635bb" providerId="LiveId" clId="{89D54495-50C3-4D70-BC00-2EBDF1CACF95}" dt="2026-03-26T02:41:29.765" v="1028" actId="20577"/>
          <ac:graphicFrameMkLst>
            <pc:docMk/>
            <pc:sldMk cId="852296657" sldId="256"/>
            <ac:graphicFrameMk id="4" creationId="{A35698A0-0B3C-C0A7-5C0F-5792D61CA9D2}"/>
          </ac:graphicFrameMkLst>
        </pc:graphicFrameChg>
        <pc:graphicFrameChg chg="mod modGraphic">
          <ac:chgData name="Dan Tyndall" userId="36a36dfb8b9635bb" providerId="LiveId" clId="{89D54495-50C3-4D70-BC00-2EBDF1CACF95}" dt="2026-03-26T02:47:15.560" v="1034" actId="113"/>
          <ac:graphicFrameMkLst>
            <pc:docMk/>
            <pc:sldMk cId="852296657" sldId="256"/>
            <ac:graphicFrameMk id="8" creationId="{F8269C52-448A-A778-5CB9-B7439A9199A6}"/>
          </ac:graphicFrameMkLst>
        </pc:graphicFrameChg>
        <pc:graphicFrameChg chg="mod">
          <ac:chgData name="Dan Tyndall" userId="36a36dfb8b9635bb" providerId="LiveId" clId="{89D54495-50C3-4D70-BC00-2EBDF1CACF95}" dt="2026-03-23T00:08:36.137" v="950" actId="1036"/>
          <ac:graphicFrameMkLst>
            <pc:docMk/>
            <pc:sldMk cId="852296657" sldId="256"/>
            <ac:graphicFrameMk id="13" creationId="{03EC5167-858D-4D48-7757-3641E7F9AF53}"/>
          </ac:graphicFrameMkLst>
        </pc:graphicFrameChg>
        <pc:graphicFrameChg chg="mod modGraphic">
          <ac:chgData name="Dan Tyndall" userId="36a36dfb8b9635bb" providerId="LiveId" clId="{89D54495-50C3-4D70-BC00-2EBDF1CACF95}" dt="2026-03-23T00:08:41.005" v="961" actId="1036"/>
          <ac:graphicFrameMkLst>
            <pc:docMk/>
            <pc:sldMk cId="852296657" sldId="256"/>
            <ac:graphicFrameMk id="19" creationId="{3C12DEFE-6E1D-CFDE-55A5-1EC9436D0091}"/>
          </ac:graphicFrameMkLst>
        </pc:graphicFrameChg>
        <pc:picChg chg="mod">
          <ac:chgData name="Dan Tyndall" userId="36a36dfb8b9635bb" providerId="LiveId" clId="{89D54495-50C3-4D70-BC00-2EBDF1CACF95}" dt="2026-03-23T00:09:27.580" v="984" actId="1035"/>
          <ac:picMkLst>
            <pc:docMk/>
            <pc:sldMk cId="852296657" sldId="256"/>
            <ac:picMk id="9" creationId="{87058378-B8BA-D138-8C91-ACFE8F7F9B0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3077739" cy="471054"/>
          </a:xfrm>
          <a:prstGeom prst="rect">
            <a:avLst/>
          </a:prstGeom>
        </p:spPr>
        <p:txBody>
          <a:bodyPr vert="horz" lIns="94076" tIns="47039" rIns="94076" bIns="47039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5" y="1"/>
            <a:ext cx="3077739" cy="471054"/>
          </a:xfrm>
          <a:prstGeom prst="rect">
            <a:avLst/>
          </a:prstGeom>
        </p:spPr>
        <p:txBody>
          <a:bodyPr vert="horz" lIns="94076" tIns="47039" rIns="94076" bIns="47039" rtlCol="0"/>
          <a:lstStyle>
            <a:lvl1pPr algn="r">
              <a:defRPr sz="1300"/>
            </a:lvl1pPr>
          </a:lstStyle>
          <a:p>
            <a:fld id="{A4389002-FAFD-4675-8BE8-A0C80DF0744B}" type="datetimeFigureOut">
              <a:rPr lang="en-US" smtClean="0"/>
              <a:t>20 Mar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27275" y="1173163"/>
            <a:ext cx="2447925" cy="31686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076" tIns="47039" rIns="94076" bIns="4703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9" y="4518207"/>
            <a:ext cx="5681980" cy="3696713"/>
          </a:xfrm>
          <a:prstGeom prst="rect">
            <a:avLst/>
          </a:prstGeom>
        </p:spPr>
        <p:txBody>
          <a:bodyPr vert="horz" lIns="94076" tIns="47039" rIns="94076" bIns="4703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8917434"/>
            <a:ext cx="3077739" cy="471053"/>
          </a:xfrm>
          <a:prstGeom prst="rect">
            <a:avLst/>
          </a:prstGeom>
        </p:spPr>
        <p:txBody>
          <a:bodyPr vert="horz" lIns="94076" tIns="47039" rIns="94076" bIns="47039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5" y="8917434"/>
            <a:ext cx="3077739" cy="471053"/>
          </a:xfrm>
          <a:prstGeom prst="rect">
            <a:avLst/>
          </a:prstGeom>
        </p:spPr>
        <p:txBody>
          <a:bodyPr vert="horz" lIns="94076" tIns="47039" rIns="94076" bIns="47039" rtlCol="0" anchor="b"/>
          <a:lstStyle>
            <a:lvl1pPr algn="r">
              <a:defRPr sz="1300"/>
            </a:lvl1pPr>
          </a:lstStyle>
          <a:p>
            <a:fld id="{5C235514-82AE-4928-851B-FE1D5E1E0F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83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1pPr>
    <a:lvl2pPr marL="509412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2pPr>
    <a:lvl3pPr marL="1018824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3pPr>
    <a:lvl4pPr marL="1528237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4pPr>
    <a:lvl5pPr marL="2037649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5pPr>
    <a:lvl6pPr marL="2547061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6pPr>
    <a:lvl7pPr marL="3056473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7pPr>
    <a:lvl8pPr marL="3565886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8pPr>
    <a:lvl9pPr marL="4075298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35514-82AE-4928-851B-FE1D5E1E0F2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7485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20 Mar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928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20 Mar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6559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>
                    <a:tint val="82000"/>
                  </a:schemeClr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20 Mar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0194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20 Mar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549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20 Mar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903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20 Mar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021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20 Mar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575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20 Mar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061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20 Mar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2277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20 Mar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842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20 Mar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003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27CB61-055E-4C8B-9681-CA3A44B02D62}" type="datetimeFigureOut">
              <a:rPr lang="en-US" smtClean="0"/>
              <a:t>20 Mar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66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93B009-B5A7-DD54-44E2-6FB68D227C8F}"/>
              </a:ext>
            </a:extLst>
          </p:cNvPr>
          <p:cNvSpPr txBox="1">
            <a:spLocks/>
          </p:cNvSpPr>
          <p:nvPr/>
        </p:nvSpPr>
        <p:spPr>
          <a:xfrm>
            <a:off x="151130" y="9531156"/>
            <a:ext cx="1280378" cy="193899"/>
          </a:xfrm>
          <a:prstGeom prst="rect">
            <a:avLst/>
          </a:prstGeom>
          <a:noFill/>
        </p:spPr>
        <p:txBody>
          <a:bodyPr wrap="square" lIns="9144" tIns="9144" rIns="9144" bIns="9144" rtlCol="0">
            <a:spAutoFit/>
          </a:bodyPr>
          <a:lstStyle/>
          <a:p>
            <a:pPr algn="ctr"/>
            <a:r>
              <a:rPr lang="en-US" sz="570" b="1" dirty="0">
                <a:latin typeface="Arial" panose="020B0604020202020204" pitchFamily="34" charset="0"/>
                <a:cs typeface="Arial" panose="020B0604020202020204" pitchFamily="34" charset="0"/>
              </a:rPr>
              <a:t>Contact </a:t>
            </a:r>
            <a:r>
              <a:rPr lang="en-US" sz="570" b="1" dirty="0" err="1">
                <a:latin typeface="Arial" panose="020B0604020202020204" pitchFamily="34" charset="0"/>
                <a:cs typeface="Arial" panose="020B0604020202020204" pitchFamily="34" charset="0"/>
              </a:rPr>
              <a:t>dan.tyndall</a:t>
            </a:r>
            <a:r>
              <a:rPr lang="en-US" sz="570" b="1" dirty="0">
                <a:latin typeface="Arial" panose="020B0604020202020204" pitchFamily="34" charset="0"/>
                <a:cs typeface="Arial" panose="020B0604020202020204" pitchFamily="34" charset="0"/>
              </a:rPr>
              <a:t> @ outlook.com for corrections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35698A0-0B3C-C0A7-5C0F-5792D61CA9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5093792"/>
              </p:ext>
            </p:extLst>
          </p:nvPr>
        </p:nvGraphicFramePr>
        <p:xfrm>
          <a:off x="151130" y="153995"/>
          <a:ext cx="5702046" cy="8613267"/>
        </p:xfrm>
        <a:graphic>
          <a:graphicData uri="http://schemas.openxmlformats.org/drawingml/2006/table">
            <a:tbl>
              <a:tblPr>
                <a:solidFill>
                  <a:schemeClr val="bg1"/>
                </a:solidFill>
                <a:tableStyleId>{616DA210-FB5B-4158-B5E0-FEB733F419BA}</a:tableStyleId>
              </a:tblPr>
              <a:tblGrid>
                <a:gridCol w="133350">
                  <a:extLst>
                    <a:ext uri="{9D8B030D-6E8A-4147-A177-3AD203B41FA5}">
                      <a16:colId xmlns:a16="http://schemas.microsoft.com/office/drawing/2014/main" val="3312760365"/>
                    </a:ext>
                  </a:extLst>
                </a:gridCol>
                <a:gridCol w="137160">
                  <a:extLst>
                    <a:ext uri="{9D8B030D-6E8A-4147-A177-3AD203B41FA5}">
                      <a16:colId xmlns:a16="http://schemas.microsoft.com/office/drawing/2014/main" val="974077048"/>
                    </a:ext>
                  </a:extLst>
                </a:gridCol>
                <a:gridCol w="256032">
                  <a:extLst>
                    <a:ext uri="{9D8B030D-6E8A-4147-A177-3AD203B41FA5}">
                      <a16:colId xmlns:a16="http://schemas.microsoft.com/office/drawing/2014/main" val="630308433"/>
                    </a:ext>
                  </a:extLst>
                </a:gridCol>
                <a:gridCol w="2487168">
                  <a:extLst>
                    <a:ext uri="{9D8B030D-6E8A-4147-A177-3AD203B41FA5}">
                      <a16:colId xmlns:a16="http://schemas.microsoft.com/office/drawing/2014/main" val="2052168401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3298472755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2335832143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4178597348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1640511027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1295697522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31419201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18288" marR="18288" marT="9144" marB="9144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Other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Minor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Disable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Yellow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126866"/>
                  </a:ext>
                </a:extLst>
              </a:tr>
              <a:tr h="0">
                <a:tc rowSpan="2" gridSpan="2"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Ref/</a:t>
                      </a:r>
                      <a:b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FTA</a:t>
                      </a:r>
                    </a:p>
                  </a:txBody>
                  <a:tcPr marL="18288" marR="1828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Q101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STUDENT, 1 additional team member, and 1 HEAD REFEREE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WBA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975831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Q102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Conversations must be civil (</a:t>
                      </a:r>
                      <a:r>
                        <a:rPr lang="en-US" sz="660" kern="100" spc="0" baseline="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 – G211A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CDRVLA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</a:t>
                      </a:r>
                      <a:r>
                        <a:rPr lang="en-US" sz="660" b="1" kern="100" spc="0" baseline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Egr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</a:t>
                      </a:r>
                      <a:r>
                        <a:rPr lang="en-US" sz="660" b="1" kern="100" spc="0" baseline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Egr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675284320"/>
                  </a:ext>
                </a:extLst>
              </a:tr>
              <a:tr h="0">
                <a:tc rowSpan="4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Personal Safety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 rowSpan="4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may not reach into the field during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3809079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Never step over the guardrail; enter only when FIELD is green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15506832"/>
                  </a:ext>
                </a:extLst>
              </a:tr>
              <a:tr h="50453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HUMANS, be careful what you interact with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4675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enable your ROBOT while you are on the FIELD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609974"/>
                  </a:ext>
                </a:extLst>
              </a:tr>
              <a:tr h="0">
                <a:tc rowSpan="12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Conduct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 rowSpan="12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Be a good person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7920168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bang on the glass 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9591492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ask opponents to throw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205843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be coerced into throwing a MATCH by opponents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179771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throw your own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277433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collude to purposely violate rules to earn RPs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AIBRP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532716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abuse ARENA access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356584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Show up to your QUALIFICATION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39779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cannot intentionally detach or leave parts in the FIELD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8434941"/>
                  </a:ext>
                </a:extLst>
              </a:tr>
              <a:tr h="63623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 forcing opponents to violate rules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9465621"/>
                  </a:ext>
                </a:extLst>
              </a:tr>
              <a:tr h="48988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Egregious or exceptional violations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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76438324"/>
                  </a:ext>
                </a:extLst>
              </a:tr>
              <a:tr h="48988">
                <a:tc gridSpan="2"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 discouraging another team from playing in QUAL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RDP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RDNP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411587577"/>
                  </a:ext>
                </a:extLst>
              </a:tr>
              <a:tr h="0">
                <a:tc rowSpan="3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Pre-MATCH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CEBF8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Be prompt (if PLAYOFFS, VW applies to ALLIANCE)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SSP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2min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010621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You can’t bring/use anything you want during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2790879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must be in STARTING CONFIGURATION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URPMWRI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6095137"/>
                  </a:ext>
                </a:extLst>
              </a:tr>
              <a:tr h="0">
                <a:tc rowSpan="27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In-MATCH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89D5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AUTO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behind the STARTING LINE during AUTO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32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touch controls except E-STOP/A-STOP during AUTO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2675609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contact opponent during AUTO if your BUMPERS are completely across CENTER LINE (IAI – G211H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IAI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IAI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664535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5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SCORING ELEMENTS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deliberately use SCORING ELEMENTS to ease or amplify challenge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57200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228600" algn="ct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491810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intentionally eject SCORING ELEMENTS out of the FIELD (LQIE – G211I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LQIE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LQIE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2576993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and HUMANS can’t damage SCORING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05486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launch SCORING ELEMENTS into HUB unless their BUMPERS are partially or fully in their ALLIANCE ZONE (LQSNZ – G211L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LQSNZ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LQSNZ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8280480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catch SCORING ELEMENTS directly from the HUB (greater than momentary contact or controlled redirection)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VWS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228600" algn="ctr"/>
                          <a:tab pos="448056" algn="r"/>
                        </a:tabLst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	o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BAB8D4"/>
                        </a:gs>
                        <a:gs pos="80000">
                          <a:srgbClr val="9DC3E6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7013" algn="ctr"/>
                        </a:tabLst>
                      </a:pPr>
                      <a:r>
                        <a:rPr lang="en-US" sz="660" b="1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	r	VWS,SSV</a:t>
                      </a:r>
                    </a:p>
                  </a:txBody>
                  <a:tcPr marL="0" marR="0" marT="9144" marB="914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BAB8D4"/>
                        </a:gs>
                        <a:gs pos="20000">
                          <a:srgbClr val="D7AEC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SSV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317869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6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E95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must be safe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642928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Keep BUMPERS in BUMPER ZONE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626965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damage FIELD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6864529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ROBOTS can't grab, grasp, attach to, become entangled with, or suspend from FIELD ELEMENTS except for RUNGS and UPRIGHTS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R or M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 or 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234731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extend beyond FRAME PERIMETER over multiple sides (greater than MOMENTARY or consequential), or beyond 12” horizontally, or be taller than 30” (IEEL– G211J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NPD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	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		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IEEL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IEEL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3880978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may not fully support ALLIANCE MEMBERS while climbing the TOWER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SRITP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57200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228600" algn="ct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746747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6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Opponent Interaction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Stay out of opponent ROBOTS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Mutually exclusive, most punitive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459133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 damaging or functionally impairing opponent ROBOTS, deliberately or within ROBOT PERIMETER regardless of intent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016553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Don't deliberately attach to, tip, or entangle with opponent ROBOT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C or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 or UD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61446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There’s a 3-count on PINS (15sec – G211E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3sec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15sec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15sec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2939038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Don't collude with partners to shut down major parts of GAME PLAY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3sec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852742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directly or transitively contact opponent ROBOT in contact with their own TOWER during last 30 seconds of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OOGL3T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625974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7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DRIVE TEAM must remain in designated areas during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641301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COACHES and other teams: hands off the controls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79335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may not extend beyond the colored tape on the CHUTE or in the CORRAL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044757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 players may not deliberately use SCORING ELEMENTS to ease or amplify challenge associated with FIELD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228600" algn="ctr"/>
                          <a:tab pos="448056" algn="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98156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SCORING ELEMENTS may only be entered to the FIELD by HUMANS through the CHUTE, through the OUTPOST bottom opening, or thrown over ALLIANCE WALL from OUTPOST AREA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453356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COACHES may not contact SCORING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322361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89D5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If CORRAL and CHUTE are full, excess SCORING ELEMENTS must immediately be entered into the FIELD (LQIS – G211K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LQIS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LQIS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4107089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30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Post-MATCH</a:t>
                      </a:r>
                    </a:p>
                  </a:txBody>
                  <a:tcPr marL="18288" marR="1828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CEBF8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G501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Leave promptly after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190046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3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Inspection</a:t>
                      </a:r>
                    </a:p>
                  </a:txBody>
                  <a:tcPr marL="18288" marR="1828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Get inspected before playing a MATCH (PR – T201)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PM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AM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PR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063144"/>
                  </a:ext>
                </a:extLst>
              </a:tr>
              <a:tr h="0">
                <a:tc rowSpan="2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50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Tourna-</a:t>
                      </a:r>
                      <a:r>
                        <a:rPr lang="en-US" sz="500" kern="100" spc="0" baseline="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ment</a:t>
                      </a:r>
                      <a:endParaRPr lang="en-US" sz="50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T201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Replayed MATCHES will start using same conditions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79832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T301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ROBOTS will not drive, extend, or interact with FIELD ELEMENTS during ARENA measurement period</a:t>
                      </a:r>
                      <a:endParaRPr lang="en-US" sz="660" b="0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797861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8269C52-448A-A778-5CB9-B7439A9199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1267594"/>
              </p:ext>
            </p:extLst>
          </p:nvPr>
        </p:nvGraphicFramePr>
        <p:xfrm>
          <a:off x="5910797" y="160613"/>
          <a:ext cx="1708651" cy="566928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458761">
                  <a:extLst>
                    <a:ext uri="{9D8B030D-6E8A-4147-A177-3AD203B41FA5}">
                      <a16:colId xmlns:a16="http://schemas.microsoft.com/office/drawing/2014/main" val="3205606415"/>
                    </a:ext>
                  </a:extLst>
                </a:gridCol>
                <a:gridCol w="1249890">
                  <a:extLst>
                    <a:ext uri="{9D8B030D-6E8A-4147-A177-3AD203B41FA5}">
                      <a16:colId xmlns:a16="http://schemas.microsoft.com/office/drawing/2014/main" val="31011599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Explanation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02661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2min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not MATCH ready within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 min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warning or not making good faith effort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15262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3sec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For every additional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 sec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onds in which situation is not corrected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03916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AIBRP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LLIANCE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neligible for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ONUS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2522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fter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79419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greater than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ONTINUOUS (10 seconds)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55180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CDRVLA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ool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own period;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epeat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iolators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ose HEAD REFEREE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ccess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10153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7701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is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ualified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59312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egious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672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IAI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nterference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5455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IEEL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ntentionally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xceeding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xpansion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imits as a strategy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24119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LQIE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ntentionally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611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LQIS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mproperly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tored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4950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LQSNZ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cored from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EUTRAL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Z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6903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greater than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OMENTARY (3 seconds)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0024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enalty assessed to victim ALLIANCE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6659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NQ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uickly fixed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43692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rior 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31847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otential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9977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OOGL3T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pponent ROBOT is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round,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OWER climb awarded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46757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EPEATED during MATCH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94995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RDP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 DOES 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7514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RDNP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 DOES NOT 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9931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strategic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16922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ubsequent violations during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vent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5488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SRITP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upported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neligible for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OWER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oints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40002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SSP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ubsequent violations during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ame tournament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hase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00895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SSV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ubsequent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trategic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iolations during event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18311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UD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Opponent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nable 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rive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63803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URPMWRI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ninspected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laying 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odified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ithout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e-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nspection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2471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erbal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arning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2992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VWS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erbal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arning 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trategic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55162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WBA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ill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ddressed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93609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MATCH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on’t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tart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ntil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ituation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orrected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1203243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3EC5167-858D-4D48-7757-3641E7F9A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0703458"/>
              </p:ext>
            </p:extLst>
          </p:nvPr>
        </p:nvGraphicFramePr>
        <p:xfrm>
          <a:off x="5908691" y="5867963"/>
          <a:ext cx="1708653" cy="149504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403209">
                  <a:extLst>
                    <a:ext uri="{9D8B030D-6E8A-4147-A177-3AD203B41FA5}">
                      <a16:colId xmlns:a16="http://schemas.microsoft.com/office/drawing/2014/main" val="1285392478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3732140672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492019656"/>
                    </a:ext>
                  </a:extLst>
                </a:gridCol>
                <a:gridCol w="346594">
                  <a:extLst>
                    <a:ext uri="{9D8B030D-6E8A-4147-A177-3AD203B41FA5}">
                      <a16:colId xmlns:a16="http://schemas.microsoft.com/office/drawing/2014/main" val="1673469650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MATCH POINTS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AUTO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TELEOP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4788341"/>
                  </a:ext>
                </a:extLst>
              </a:tr>
              <a:tr h="102285">
                <a:tc rowSpan="2"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Scored in active HUB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615022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Scored in inactive HUB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1081113"/>
                  </a:ext>
                </a:extLst>
              </a:tr>
              <a:tr h="102285">
                <a:tc rowSpan="3"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TOWER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1</a:t>
                      </a:r>
                    </a:p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 ROBOTS max in AUTO)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1483510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2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6107792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3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83665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l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MINOR FOUL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6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7441537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l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MAJOR FOUL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6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3406858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3C12DEFE-6E1D-CFDE-55A5-1EC9436D00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5257849"/>
              </p:ext>
            </p:extLst>
          </p:nvPr>
        </p:nvGraphicFramePr>
        <p:xfrm>
          <a:off x="5908691" y="7408675"/>
          <a:ext cx="1708652" cy="253647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523859">
                  <a:extLst>
                    <a:ext uri="{9D8B030D-6E8A-4147-A177-3AD203B41FA5}">
                      <a16:colId xmlns:a16="http://schemas.microsoft.com/office/drawing/2014/main" val="1938489803"/>
                    </a:ext>
                  </a:extLst>
                </a:gridCol>
                <a:gridCol w="846595">
                  <a:extLst>
                    <a:ext uri="{9D8B030D-6E8A-4147-A177-3AD203B41FA5}">
                      <a16:colId xmlns:a16="http://schemas.microsoft.com/office/drawing/2014/main" val="3651798124"/>
                    </a:ext>
                  </a:extLst>
                </a:gridCol>
                <a:gridCol w="338198">
                  <a:extLst>
                    <a:ext uri="{9D8B030D-6E8A-4147-A177-3AD203B41FA5}">
                      <a16:colId xmlns:a16="http://schemas.microsoft.com/office/drawing/2014/main" val="3020477121"/>
                    </a:ext>
                  </a:extLst>
                </a:gridCol>
              </a:tblGrid>
              <a:tr h="285526">
                <a:tc>
                  <a:txBody>
                    <a:bodyPr/>
                    <a:lstStyle/>
                    <a:p>
                      <a:pPr algn="ctr"/>
                      <a:r>
                        <a:rPr lang="en-US" sz="59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AWARD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CRITERIA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RANK. PTS.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13738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ENERGIZED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 scored in active HUB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100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TBA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TBA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52588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SUPER-CHARGED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 scored in active HUB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360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TBA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TBA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534599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TRAVERSAL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TOWER points scored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50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TBA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TBA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560953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WIN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completing a MATCH with more MATCH points than your opponent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041688"/>
                  </a:ext>
                </a:extLst>
              </a:tr>
              <a:tr h="14859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TIE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completing a MATCH with the same number of MATCH points as your opponent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6065747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D329976B-9A2F-08E1-7FF4-B4287605D0CD}"/>
              </a:ext>
            </a:extLst>
          </p:cNvPr>
          <p:cNvSpPr txBox="1"/>
          <p:nvPr/>
        </p:nvSpPr>
        <p:spPr>
          <a:xfrm>
            <a:off x="151130" y="9260944"/>
            <a:ext cx="1280378" cy="281616"/>
          </a:xfrm>
          <a:prstGeom prst="rect">
            <a:avLst/>
          </a:prstGeom>
          <a:noFill/>
        </p:spPr>
        <p:txBody>
          <a:bodyPr wrap="square" lIns="9144" tIns="9144" rIns="9144" bIns="9144" rtlCol="0">
            <a:spAutoFit/>
          </a:bodyPr>
          <a:lstStyle/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Last updated: 0247Z 26 MAR 2026</a:t>
            </a:r>
          </a:p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Team Update 18</a:t>
            </a:r>
          </a:p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HRQ Update: 7:22 PM 25 MAR 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058378-B8BA-D138-8C91-ACFE8F7F9B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439"/>
          <a:stretch>
            <a:fillRect/>
          </a:stretch>
        </p:blipFill>
        <p:spPr>
          <a:xfrm>
            <a:off x="297988" y="8828256"/>
            <a:ext cx="986662" cy="448734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F527BBCD-A046-3C69-0CB1-82CF7538204E}"/>
              </a:ext>
            </a:extLst>
          </p:cNvPr>
          <p:cNvGrpSpPr/>
          <p:nvPr/>
        </p:nvGrpSpPr>
        <p:grpSpPr>
          <a:xfrm>
            <a:off x="1504262" y="8826915"/>
            <a:ext cx="4352174" cy="1215717"/>
            <a:chOff x="1504262" y="9025128"/>
            <a:chExt cx="4352174" cy="1215717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7D620A0-96A1-FCD4-622B-C7D3B293EEC9}"/>
                </a:ext>
              </a:extLst>
            </p:cNvPr>
            <p:cNvSpPr/>
            <p:nvPr/>
          </p:nvSpPr>
          <p:spPr>
            <a:xfrm>
              <a:off x="1798062" y="9025641"/>
              <a:ext cx="4058374" cy="1117719"/>
            </a:xfrm>
            <a:prstGeom prst="rect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2D7C986-3F09-0594-8B38-E285E8579132}"/>
                </a:ext>
              </a:extLst>
            </p:cNvPr>
            <p:cNvSpPr txBox="1"/>
            <p:nvPr/>
          </p:nvSpPr>
          <p:spPr>
            <a:xfrm>
              <a:off x="1798063" y="9025644"/>
              <a:ext cx="2020824" cy="1077218"/>
            </a:xfrm>
            <a:prstGeom prst="rect">
              <a:avLst/>
            </a:prstGeom>
            <a:noFill/>
          </p:spPr>
          <p:txBody>
            <a:bodyPr wrap="square" lIns="45720" tIns="45720" rIns="45720" bIns="45720" rtlCol="0">
              <a:spAutoFit/>
            </a:bodyPr>
            <a:lstStyle/>
            <a:p>
              <a:r>
                <a:rPr lang="en-US" sz="700" dirty="0">
                  <a:latin typeface="Arial" panose="020B0604020202020204" pitchFamily="34" charset="0"/>
                  <a:cs typeface="Arial" panose="020B0604020202020204" pitchFamily="34" charset="0"/>
                </a:rPr>
                <a:t>To qualify for a specific level, ROBOTS must meet the following conditions:</a:t>
              </a:r>
              <a:br>
                <a:rPr lang="en-US" sz="70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sz="200" dirty="0">
                  <a:latin typeface="Arial" panose="020B0604020202020204" pitchFamily="34" charset="0"/>
                  <a:cs typeface="Arial" panose="020B0604020202020204" pitchFamily="34" charset="0"/>
                </a:rPr>
                <a:t>  </a:t>
              </a:r>
            </a:p>
            <a:p>
              <a:pPr marL="114300" indent="-114300">
                <a:buFont typeface="Arial" panose="020B0604020202020204" pitchFamily="34" charset="0"/>
                <a:buChar char="•"/>
              </a:pPr>
              <a:r>
                <a:rPr lang="en-US" sz="700" dirty="0">
                  <a:latin typeface="Arial" panose="020B0604020202020204" pitchFamily="34" charset="0"/>
                  <a:cs typeface="Arial" panose="020B0604020202020204" pitchFamily="34" charset="0"/>
                </a:rPr>
                <a:t>Level 1: ROBOT is not touching CARPET or TOWER BASE</a:t>
              </a:r>
            </a:p>
            <a:p>
              <a:pPr marL="114300" indent="-114300">
                <a:buFont typeface="Arial" panose="020B0604020202020204" pitchFamily="34" charset="0"/>
                <a:buChar char="•"/>
              </a:pPr>
              <a:r>
                <a:rPr lang="en-US" sz="700" dirty="0">
                  <a:latin typeface="Arial" panose="020B0604020202020204" pitchFamily="34" charset="0"/>
                  <a:cs typeface="Arial" panose="020B0604020202020204" pitchFamily="34" charset="0"/>
                </a:rPr>
                <a:t>Level 2: ROBOT’s BUMPERS are completely above the LOW RUNG</a:t>
              </a:r>
            </a:p>
            <a:p>
              <a:pPr marL="114300" indent="-114300">
                <a:buFont typeface="Arial" panose="020B0604020202020204" pitchFamily="34" charset="0"/>
                <a:buChar char="•"/>
              </a:pPr>
              <a:r>
                <a:rPr lang="en-US" sz="700" dirty="0">
                  <a:latin typeface="Arial" panose="020B0604020202020204" pitchFamily="34" charset="0"/>
                  <a:cs typeface="Arial" panose="020B0604020202020204" pitchFamily="34" charset="0"/>
                </a:rPr>
                <a:t>Level 3: ROBOT’s BUMPERS are completely above the MID RUNG</a:t>
              </a:r>
            </a:p>
            <a:p>
              <a:endParaRPr lang="en-US" sz="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FE0E575-27E0-87DA-55D5-38B1219BDCA9}"/>
                </a:ext>
              </a:extLst>
            </p:cNvPr>
            <p:cNvSpPr txBox="1"/>
            <p:nvPr/>
          </p:nvSpPr>
          <p:spPr>
            <a:xfrm>
              <a:off x="1504262" y="9025643"/>
              <a:ext cx="292388" cy="1117719"/>
            </a:xfrm>
            <a:prstGeom prst="rect">
              <a:avLst/>
            </a:prstGeom>
            <a:noFill/>
            <a:ln w="6350">
              <a:solidFill>
                <a:schemeClr val="tx1"/>
              </a:solidFill>
            </a:ln>
          </p:spPr>
          <p:txBody>
            <a:bodyPr vert="vert270" wrap="square" lIns="45720" tIns="45720" rIns="45720" bIns="45720" rtlCol="0" anchor="ctr">
              <a:spAutoFit/>
            </a:bodyPr>
            <a:lstStyle/>
            <a:p>
              <a:pPr algn="ctr"/>
              <a:r>
                <a:rPr lang="en-US" sz="650" b="1" dirty="0">
                  <a:latin typeface="Arial" panose="020B0604020202020204" pitchFamily="34" charset="0"/>
                  <a:cs typeface="Arial" panose="020B0604020202020204" pitchFamily="34" charset="0"/>
                </a:rPr>
                <a:t>ROBOT SCORING ASSESSMENT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7FE5694-A65D-A047-AA80-E10CFE5012A0}"/>
                </a:ext>
              </a:extLst>
            </p:cNvPr>
            <p:cNvSpPr txBox="1"/>
            <p:nvPr/>
          </p:nvSpPr>
          <p:spPr>
            <a:xfrm>
              <a:off x="3774437" y="9025128"/>
              <a:ext cx="2020824" cy="1215717"/>
            </a:xfrm>
            <a:prstGeom prst="rect">
              <a:avLst/>
            </a:prstGeom>
            <a:noFill/>
          </p:spPr>
          <p:txBody>
            <a:bodyPr wrap="square" lIns="45720" tIns="45720" rIns="45720" bIns="45720" rtlCol="0">
              <a:spAutoFit/>
            </a:bodyPr>
            <a:lstStyle/>
            <a:p>
              <a:r>
                <a:rPr lang="en-US" sz="700" dirty="0">
                  <a:latin typeface="Arial" panose="020B0604020202020204" pitchFamily="34" charset="0"/>
                  <a:cs typeface="Arial" panose="020B0604020202020204" pitchFamily="34" charset="0"/>
                </a:rPr>
                <a:t>ROBOT must be contacting at least one RUNG and/or at least one UPRIGHT on their TOWER, and may only contact the following:</a:t>
              </a:r>
            </a:p>
            <a:p>
              <a:endParaRPr lang="en-US" sz="2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700" dirty="0">
                  <a:latin typeface="Arial" panose="020B0604020202020204" pitchFamily="34" charset="0"/>
                  <a:cs typeface="Arial" panose="020B0604020202020204" pitchFamily="34" charset="0"/>
                </a:rPr>
                <a:t>TOWER WALL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700" dirty="0">
                  <a:latin typeface="Arial" panose="020B0604020202020204" pitchFamily="34" charset="0"/>
                  <a:cs typeface="Arial" panose="020B0604020202020204" pitchFamily="34" charset="0"/>
                </a:rPr>
                <a:t>Support structure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700" dirty="0">
                  <a:latin typeface="Arial" panose="020B0604020202020204" pitchFamily="34" charset="0"/>
                  <a:cs typeface="Arial" panose="020B0604020202020204" pitchFamily="34" charset="0"/>
                </a:rPr>
                <a:t>FUEL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700" dirty="0">
                  <a:latin typeface="Arial" panose="020B0604020202020204" pitchFamily="34" charset="0"/>
                  <a:cs typeface="Arial" panose="020B0604020202020204" pitchFamily="34" charset="0"/>
                </a:rPr>
                <a:t>Another ROBOT</a:t>
              </a:r>
            </a:p>
            <a:p>
              <a:endParaRPr lang="en-US" sz="2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sz="700" dirty="0">
                  <a:latin typeface="Arial" panose="020B0604020202020204" pitchFamily="34" charset="0"/>
                  <a:cs typeface="Arial" panose="020B0604020202020204" pitchFamily="34" charset="0"/>
                </a:rPr>
                <a:t>ROBOTS only earn LEVEL 1 points during AUTO, and a single level at the end of TELEOP.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n-US" sz="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F7B2A21F-247D-2BE5-93CA-79BE664CEC78}"/>
              </a:ext>
            </a:extLst>
          </p:cNvPr>
          <p:cNvSpPr/>
          <p:nvPr/>
        </p:nvSpPr>
        <p:spPr>
          <a:xfrm>
            <a:off x="111125" y="9449042"/>
            <a:ext cx="1360388" cy="3627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296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34458</TotalTime>
  <Words>1376</Words>
  <Application>Microsoft Office PowerPoint</Application>
  <PresentationFormat>Custom</PresentationFormat>
  <Paragraphs>376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 Tyndall</dc:creator>
  <cp:lastModifiedBy>Dan Tyndall</cp:lastModifiedBy>
  <cp:revision>3</cp:revision>
  <cp:lastPrinted>2026-03-26T03:26:30Z</cp:lastPrinted>
  <dcterms:created xsi:type="dcterms:W3CDTF">2025-01-05T00:25:39Z</dcterms:created>
  <dcterms:modified xsi:type="dcterms:W3CDTF">2026-03-26T03:48:28Z</dcterms:modified>
</cp:coreProperties>
</file>